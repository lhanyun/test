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9" r:id="rId3"/>
    <p:sldId id="389" r:id="rId5"/>
    <p:sldId id="371" r:id="rId6"/>
    <p:sldId id="358" r:id="rId7"/>
    <p:sldId id="359" r:id="rId8"/>
    <p:sldId id="360" r:id="rId9"/>
    <p:sldId id="361" r:id="rId10"/>
    <p:sldId id="362" r:id="rId11"/>
    <p:sldId id="364" r:id="rId12"/>
    <p:sldId id="365" r:id="rId13"/>
    <p:sldId id="370" r:id="rId14"/>
    <p:sldId id="368" r:id="rId15"/>
    <p:sldId id="349" r:id="rId16"/>
    <p:sldId id="340" r:id="rId17"/>
    <p:sldId id="366" r:id="rId18"/>
    <p:sldId id="343" r:id="rId19"/>
    <p:sldId id="342" r:id="rId20"/>
    <p:sldId id="350" r:id="rId21"/>
    <p:sldId id="351" r:id="rId22"/>
    <p:sldId id="35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B1E"/>
    <a:srgbClr val="0D1D3E"/>
    <a:srgbClr val="0E1F42"/>
    <a:srgbClr val="1699AA"/>
    <a:srgbClr val="0B1938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79" autoAdjust="0"/>
    <p:restoredTop sz="89183" autoAdjust="0"/>
  </p:normalViewPr>
  <p:slideViewPr>
    <p:cSldViewPr snapToGrid="0" showGuides="1">
      <p:cViewPr varScale="1">
        <p:scale>
          <a:sx n="72" d="100"/>
          <a:sy n="72" d="100"/>
        </p:scale>
        <p:origin x="960" y="72"/>
      </p:cViewPr>
      <p:guideLst>
        <p:guide orient="horz" pos="2201"/>
        <p:guide pos="37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4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A3D2-5EE1-4337-B09B-C9AD7BF1CB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6364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29" name="椭圆 28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-23586" y="-10160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73637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50801"/>
            <a:ext cx="12230100" cy="6908801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333500" y="2423795"/>
            <a:ext cx="100768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泵送设备作业安全监控系统1.0项目</a:t>
            </a:r>
            <a:endParaRPr lang="zh-CN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zh-CN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技术方案</a:t>
            </a:r>
            <a:endParaRPr lang="zh-CN" altLang="zh-CN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1288415" y="394970"/>
          <a:ext cx="9326880" cy="692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" imgW="17170400" imgH="14617700" progId="Visio.Drawing.15">
                  <p:embed/>
                </p:oleObj>
              </mc:Choice>
              <mc:Fallback>
                <p:oleObj name="" r:id="rId1" imgW="17170400" imgH="14617700" progId="Visio.Drawing.15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8415" y="394970"/>
                        <a:ext cx="9326880" cy="6925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04179" y="2573774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lang="zh-CN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物联网技术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方案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73125" y="1014730"/>
            <a:ext cx="4654550" cy="5207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方案按核心模块划分如下</a:t>
            </a:r>
            <a:endParaRPr kumimoji="0" lang="zh-CN" altLang="en-US" sz="2800" b="0" i="0" u="none" strike="noStrike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57775" y="2244090"/>
            <a:ext cx="2144395" cy="638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设备安全监控平台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05000" y="3979545"/>
            <a:ext cx="2144395" cy="638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终端接入网关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23485" y="3979545"/>
            <a:ext cx="2144395" cy="638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流媒体服务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559165" y="3979545"/>
            <a:ext cx="2144395" cy="638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后台业务服务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892425" y="2873375"/>
            <a:ext cx="6675120" cy="1126490"/>
            <a:chOff x="4555" y="4525"/>
            <a:chExt cx="10512" cy="1774"/>
          </a:xfrm>
        </p:grpSpPr>
        <p:cxnSp>
          <p:nvCxnSpPr>
            <p:cNvPr id="2" name="直接连接符 1"/>
            <p:cNvCxnSpPr/>
            <p:nvPr/>
          </p:nvCxnSpPr>
          <p:spPr>
            <a:xfrm flipV="1">
              <a:off x="4555" y="5486"/>
              <a:ext cx="10512" cy="15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4555" y="5484"/>
              <a:ext cx="0" cy="786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9599" y="4525"/>
              <a:ext cx="1" cy="175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5067" y="5503"/>
              <a:ext cx="1" cy="797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1296035"/>
            <a:ext cx="8891905" cy="49631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2800" y="672465"/>
            <a:ext cx="4654550" cy="5207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+mn-ea"/>
              </a:rPr>
              <a:t>技术方案：</a:t>
            </a:r>
            <a:endParaRPr kumimoji="0" lang="zh-CN" altLang="en-US" sz="2800" b="0" i="0" u="none" strike="noStrike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838200" y="1297940"/>
            <a:ext cx="10998200" cy="48691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终端接入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网关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终端通过网络接入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苏标协议网关，进行图片和视频等数据交互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流媒体服务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流媒体服务用来接收处理网关的流媒体数据，并采用特定文件形式进行存储，同时能够响应用户与后台请求提供给用户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RTMP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视频码流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AI实时分析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网关的视频码流数据通过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kafka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处理后进入开发者中心，并调用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服务进行图片的实时分析处理，对分析结果保存并及时反馈给用户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后台业务服务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终端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接入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网关，流媒体服务和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实时分析等部分后需要和后台业务部分进行基础数据调用，进行统一认证，统一接口，都统一融和到后台的平台业务系统，实现系统的平台化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7565" y="672465"/>
            <a:ext cx="10999470" cy="459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+mn-ea"/>
              </a:rPr>
              <a:t>设计说明</a:t>
            </a:r>
            <a:endParaRPr kumimoji="0" lang="zh-CN" altLang="en-US" sz="2400" b="0" i="0" u="none" strike="noStrike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lvl="1" indent="0">
              <a:buNone/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2800" y="672465"/>
            <a:ext cx="10541635" cy="459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+mn-ea"/>
              </a:rPr>
              <a:t>终端接入网关</a:t>
            </a:r>
            <a:endParaRPr kumimoji="0" lang="zh-CN" altLang="en-US" sz="2800" b="0" i="0" u="none" strike="noStrike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2800" y="1695546"/>
            <a:ext cx="103336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协议扩展</a:t>
            </a:r>
            <a:endParaRPr lang="zh-CN" altLang="en-US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终端接入网关作为终端数据接入的入口，目前采用苏标协议接入，同时能够提供其他类似协议如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1078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等的平行扩展功能，能够保证其他协议的平滑接入。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技术选型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技术栈的统一，开发采用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，采用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Netty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NIO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方式进行网关协议解析和命令分发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开发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buNone/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协议解析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网关按照协议对上传数据进行解析后，对解析后的视频帧数据进行组包处理，流媒体服务器和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kafka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中进行后续处理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buNone/>
            </a:pP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altLang="zh-CN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2800" y="672465"/>
            <a:ext cx="10541635" cy="5207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+mn-ea"/>
              </a:rPr>
              <a:t>流媒体服务</a:t>
            </a:r>
            <a:endParaRPr kumimoji="0" lang="zh-CN" altLang="en-US" sz="2800" b="0" i="0" u="none" strike="noStrike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12800" y="1679526"/>
            <a:ext cx="97701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400" b="1" baseline="30000" dirty="0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协议选择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目前流媒体协议的兼容性，通用性，性能等问题，采用</a:t>
            </a: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RTMP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流媒体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</a:t>
            </a:r>
            <a:endParaRPr lang="en-US" altLang="zh-CN" sz="2400" baseline="30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网关的码流数据，按照用户和后台服务的请求对码流数据进行处理进行</a:t>
            </a: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RTMP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码流推流，分发到用户</a:t>
            </a: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RTMP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客户端进行播放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码流用户认证和鉴权</a:t>
            </a:r>
            <a:endParaRPr lang="en-US" altLang="zh-CN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	</a:t>
            </a:r>
            <a:endParaRPr lang="en-US" altLang="zh-CN" sz="2400" dirty="0" smtClean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2800" y="672465"/>
            <a:ext cx="10541635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AI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实时分析</a:t>
            </a:r>
            <a:endParaRPr lang="zh-CN" altLang="en-US" sz="2800" b="1" dirty="0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2800" y="1807834"/>
            <a:ext cx="977011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400" b="1" baseline="30000" dirty="0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数据转换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网关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码流数据进入到</a:t>
            </a:r>
            <a:r>
              <a:rPr lang="en-US" altLang="zh-CN" sz="2400" baseline="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kafka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通道，然后经码流转换切换到合适的格式存储到</a:t>
            </a:r>
            <a:r>
              <a:rPr lang="en-US" altLang="zh-CN" sz="2400" baseline="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kafka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</a:t>
            </a:r>
            <a:endParaRPr lang="en-US" altLang="zh-CN" sz="2400" baseline="30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开发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者中心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实时接收kafka图片数据，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调用AI服务，采用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spark和flink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流式分析框架对图片进行实时分析，将分析结果存储并反馈给用户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65848" y="2058820"/>
            <a:ext cx="990187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业务服务提供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zh-CN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zh-CN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其他的三大模块提供基础数据调用和用户认证，响应用户请求，指令分发等基础服务和功能接口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扩展业务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融合</a:t>
            </a:r>
            <a:endParaRPr lang="en-US" altLang="zh-CN" sz="2400" baseline="30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统一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为其他三大模块的提供基础数据和接口，能够较大程度保证系统扩展性，为后续网关扩展和其他服务的融合提供架构设计的保证</a:t>
            </a:r>
            <a:endParaRPr lang="zh-CN" altLang="en-US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选型</a:t>
            </a:r>
            <a:endParaRPr lang="en-US" altLang="zh-CN" sz="2400" baseline="30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</a:t>
            </a:r>
            <a:r>
              <a:rPr lang="en-US" altLang="zh-CN" sz="2400" baseline="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Sping</a:t>
            </a: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Boot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Cloud</a:t>
            </a:r>
            <a:r>
              <a:rPr lang="zh-CN" altLang="en-US" sz="24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微服务架构</a:t>
            </a:r>
            <a:endParaRPr lang="en-US" altLang="zh-CN" sz="2400" baseline="30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2800" y="672465"/>
            <a:ext cx="10541635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后台业务服务</a:t>
            </a:r>
            <a:endParaRPr lang="zh-CN" altLang="en-US" sz="2800" b="1" dirty="0">
              <a:solidFill>
                <a:schemeClr val="bg1"/>
              </a:solidFill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04179" y="2573774"/>
            <a:ext cx="56124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二、中联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管家技术方案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服务架构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7730" y="1048983"/>
            <a:ext cx="9627870" cy="4181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服务端采用微服务架构，以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 smtClean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Boot</a:t>
            </a:r>
            <a:r>
              <a:rPr lang="zh-CN" altLang="en-US" sz="1600" dirty="0" smtClean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</a:t>
            </a:r>
            <a:r>
              <a:rPr lang="zh-CN" altLang="en-US" sz="1600" dirty="0" smtClean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87730" y="1838325"/>
            <a:ext cx="7720330" cy="8439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dirty="0" smtClean="0"/>
              <a:t>中联</a:t>
            </a:r>
            <a:r>
              <a:rPr lang="en-US" altLang="zh-CN" dirty="0" smtClean="0"/>
              <a:t>e</a:t>
            </a:r>
            <a:r>
              <a:rPr lang="zh-CN" altLang="en-US" dirty="0" smtClean="0"/>
              <a:t>管家</a:t>
            </a:r>
            <a:endParaRPr lang="zh-CN" altLang="en-US" dirty="0" smtClean="0"/>
          </a:p>
          <a:p>
            <a:pPr algn="l"/>
            <a:r>
              <a:rPr lang="zh-CN" altLang="en-US" dirty="0" smtClean="0"/>
              <a:t>微服务中心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70785" y="2023816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设备管理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41875" y="2023816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视频监控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87730" y="2682240"/>
            <a:ext cx="7720965" cy="8439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物联网</a:t>
            </a:r>
            <a:r>
              <a:rPr lang="zh-CN" altLang="en-US" dirty="0" smtClean="0">
                <a:solidFill>
                  <a:schemeClr val="tx1"/>
                </a:solidFill>
              </a:rPr>
              <a:t>平台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2470785" y="2867660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媒体服务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87730" y="3526155"/>
            <a:ext cx="7720965" cy="7416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 smtClean="0"/>
              <a:t>视频终端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212965" y="2023816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用户管理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70785" y="3660775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视频传输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41875" y="3660775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视频存储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操作系统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中间件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87730" y="1048983"/>
            <a:ext cx="962787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客户端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移动门户应用可运行在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三个操作系统上，其中在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上通过两个平台的原生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方式运行，在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Mac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上通过浏览器的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应用方式运行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7730" y="2003090"/>
            <a:ext cx="989971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服务端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移动门户后台应用可运行在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Linux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操作系统上，支持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CentOS6.5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以上、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Ubuntu16.4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以上操作系统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87730" y="2747444"/>
            <a:ext cx="989971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MySql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数据库存储关系型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87729" y="3491798"/>
            <a:ext cx="989971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中间件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Tomcat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作为应用服务器部署后台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Nginx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服务器部署前端应用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87728" y="4236152"/>
            <a:ext cx="989971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文件存储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封装通用的文件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Restful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的方式提供服务端文件读写服务，文件集中存储在文件服务器上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007107" y="5020511"/>
            <a:ext cx="989971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Redis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作为缓存中间件实现数据的缓存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825947" y="1048577"/>
            <a:ext cx="1620079" cy="715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物联网流媒体服务器</a:t>
            </a:r>
            <a:endParaRPr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1504123" y="1093305"/>
            <a:ext cx="1620079" cy="715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浏览器</a:t>
            </a:r>
            <a:r>
              <a:rPr lang="en-US" altLang="zh-CN" dirty="0" smtClean="0"/>
              <a:t>/app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5060672" y="1063891"/>
            <a:ext cx="1620079" cy="7156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微服务</a:t>
            </a: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2623930" y="2136913"/>
            <a:ext cx="284259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314162" y="1580322"/>
            <a:ext cx="0" cy="4870174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892248" y="1580322"/>
            <a:ext cx="0" cy="4870174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635986" y="1580322"/>
            <a:ext cx="0" cy="4870174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23930" y="1808922"/>
            <a:ext cx="26835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bg1"/>
                </a:solidFill>
              </a:rPr>
              <a:t>请求查看可监控设备视频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RTMP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协议视频播放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155635" y="2547730"/>
            <a:ext cx="284259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52320" y="2192154"/>
            <a:ext cx="2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bg1"/>
                </a:solidFill>
              </a:rPr>
              <a:t>校验用户权限、签名后，携带约定校验参数请求视频播放地址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6155635" y="3230218"/>
            <a:ext cx="2842592" cy="9939"/>
          </a:xfrm>
          <a:prstGeom prst="straightConnector1">
            <a:avLst/>
          </a:prstGeom>
          <a:ln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5147" y="2811693"/>
            <a:ext cx="30976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bg1"/>
                </a:solidFill>
              </a:rPr>
              <a:t>校验参数后，返回</a:t>
            </a:r>
            <a:r>
              <a:rPr lang="en-US" altLang="zh-CN" sz="900" dirty="0" err="1" smtClean="0">
                <a:solidFill>
                  <a:schemeClr val="bg1"/>
                </a:solidFill>
              </a:rPr>
              <a:t>rtsp</a:t>
            </a:r>
            <a:r>
              <a:rPr lang="zh-CN" altLang="en-US" sz="900" dirty="0" smtClean="0">
                <a:solidFill>
                  <a:schemeClr val="bg1"/>
                </a:solidFill>
              </a:rPr>
              <a:t>协议视频播放地址及前端校验参数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 flipV="1">
            <a:off x="2700131" y="3998844"/>
            <a:ext cx="2842592" cy="9939"/>
          </a:xfrm>
          <a:prstGeom prst="straightConnector1">
            <a:avLst/>
          </a:prstGeom>
          <a:ln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79644" y="3580319"/>
            <a:ext cx="2683566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bg1"/>
                </a:solidFill>
              </a:rPr>
              <a:t>返回</a:t>
            </a:r>
            <a:r>
              <a:rPr lang="en-US" altLang="zh-CN" sz="900" dirty="0" smtClean="0">
                <a:solidFill>
                  <a:schemeClr val="bg1"/>
                </a:solidFill>
              </a:rPr>
              <a:t>RTMP</a:t>
            </a:r>
            <a:r>
              <a:rPr lang="zh-CN" altLang="en-US" sz="900" dirty="0" smtClean="0">
                <a:solidFill>
                  <a:schemeClr val="bg1"/>
                </a:solidFill>
              </a:rPr>
              <a:t>协议视频播放地址及校验参数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2700131" y="4949687"/>
            <a:ext cx="6761921" cy="298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03443" y="4488093"/>
            <a:ext cx="2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bg1"/>
                </a:solidFill>
              </a:rPr>
              <a:t>通过</a:t>
            </a:r>
            <a:r>
              <a:rPr lang="en-US" altLang="zh-CN" sz="900" dirty="0" err="1" smtClean="0">
                <a:solidFill>
                  <a:schemeClr val="bg1"/>
                </a:solidFill>
              </a:rPr>
              <a:t>rtsp</a:t>
            </a:r>
            <a:r>
              <a:rPr lang="zh-CN" altLang="en-US" sz="900" dirty="0" smtClean="0">
                <a:solidFill>
                  <a:schemeClr val="bg1"/>
                </a:solidFill>
              </a:rPr>
              <a:t>协议视频播放地址并携带校验参数，播放视频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34649" y="1924338"/>
            <a:ext cx="159026" cy="42081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791198" y="2060784"/>
            <a:ext cx="159026" cy="2044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556473" y="2411966"/>
            <a:ext cx="159026" cy="10220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549847" y="4857426"/>
            <a:ext cx="159026" cy="1354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正文"/>
          <p:cNvSpPr txBox="1">
            <a:spLocks noGrp="1"/>
          </p:cNvSpPr>
          <p:nvPr>
            <p:ph type="body" idx="1"/>
          </p:nvPr>
        </p:nvSpPr>
        <p:spPr>
          <a:xfrm>
            <a:off x="501015" y="3858895"/>
            <a:ext cx="11166475" cy="2186305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Font typeface="Arial" panose="020B0604020202090204"/>
              <a:buChar char="•"/>
            </a:pPr>
            <a:r>
              <a:rPr lang="zh-CN" altLang="en-US" sz="2200" dirty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用户</a:t>
            </a:r>
            <a:r>
              <a:rPr lang="zh-CN" altLang="en-US" sz="2200" dirty="0" smtClean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认证</a:t>
            </a:r>
            <a:endParaRPr lang="en-US" altLang="zh-CN" sz="2200" dirty="0" smtClean="0">
              <a:solidFill>
                <a:schemeClr val="bg1"/>
              </a:solidFill>
              <a:latin typeface="Arial" panose="020B0604020202090204"/>
              <a:ea typeface="宋体" panose="02010600030101010101" pitchFamily="2" charset="-122"/>
              <a:cs typeface="Arial" panose="020B0604020202090204"/>
              <a:sym typeface="Arial" panose="020B0604020202090204"/>
            </a:endParaRPr>
          </a:p>
          <a:p>
            <a:pPr marL="0" indent="0">
              <a:lnSpc>
                <a:spcPct val="120000"/>
              </a:lnSpc>
              <a:spcBef>
                <a:spcPts val="400"/>
              </a:spcBef>
              <a:buSzPct val="100000"/>
              <a:buNone/>
            </a:pPr>
            <a:r>
              <a:rPr lang="en-US" altLang="zh-CN" sz="2200" dirty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 </a:t>
            </a:r>
            <a:r>
              <a:rPr lang="en-US" altLang="zh-CN" sz="2200" dirty="0" smtClean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    </a:t>
            </a:r>
            <a:r>
              <a:rPr lang="zh-CN" altLang="zh-CN" sz="2200" dirty="0" smtClean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播放</a:t>
            </a:r>
            <a:r>
              <a:rPr lang="zh-CN" altLang="zh-CN" sz="2200" dirty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  <a:sym typeface="Arial" panose="020B0604020202090204"/>
              </a:rPr>
              <a:t>请求用户需经过后台业务接口经用户认证后进入系统；然后根据请求播放特定码流，后台服务将播放请求提交给流媒体服务器，并返回地址给用户</a:t>
            </a:r>
            <a:endParaRPr lang="zh-CN" altLang="en-US" sz="2200" dirty="0">
              <a:solidFill>
                <a:schemeClr val="bg1"/>
              </a:solidFill>
              <a:latin typeface="Arial" panose="020B0604020202090204"/>
              <a:ea typeface="宋体" panose="02010600030101010101" pitchFamily="2" charset="-122"/>
              <a:cs typeface="Arial" panose="020B0604020202090204"/>
              <a:sym typeface="Arial" panose="020B0604020202090204"/>
            </a:endParaRPr>
          </a:p>
          <a:p>
            <a:pPr marL="342900" indent="-342900">
              <a:lnSpc>
                <a:spcPct val="120000"/>
              </a:lnSpc>
              <a:spcBef>
                <a:spcPts val="400"/>
              </a:spcBef>
              <a:buSzPct val="100000"/>
              <a:buFont typeface="Arial" panose="020B0604020202090204"/>
              <a:buChar char="•"/>
            </a:pPr>
            <a:r>
              <a:rPr lang="zh-CN" altLang="en-US" sz="2200" dirty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</a:rPr>
              <a:t>鉴权</a:t>
            </a:r>
            <a:endParaRPr lang="zh-CN" altLang="en-US" sz="2200" dirty="0">
              <a:solidFill>
                <a:schemeClr val="bg1"/>
              </a:solidFill>
              <a:latin typeface="Arial" panose="020B0604020202090204"/>
              <a:ea typeface="宋体" panose="02010600030101010101" pitchFamily="2" charset="-122"/>
              <a:cs typeface="Arial" panose="020B0604020202090204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</a:rPr>
              <a:t>   </a:t>
            </a:r>
            <a:r>
              <a:rPr lang="en-US" altLang="zh-CN" sz="2200" dirty="0" smtClean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</a:rPr>
              <a:t>RTMP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/>
                <a:ea typeface="宋体" panose="02010600030101010101" pitchFamily="2" charset="-122"/>
                <a:cs typeface="Arial" panose="020B0604020202090204"/>
              </a:rPr>
              <a:t>播放码流增加播放鉴权功能，能够保证码流安全播放</a:t>
            </a:r>
            <a:endParaRPr lang="zh-CN" altLang="en-US" sz="2200" dirty="0">
              <a:solidFill>
                <a:schemeClr val="bg1"/>
              </a:solidFill>
              <a:latin typeface="Arial" panose="020B0604020202090204"/>
              <a:ea typeface="宋体" panose="02010600030101010101" pitchFamily="2" charset="-122"/>
              <a:cs typeface="Arial" panose="020B0604020202090204"/>
            </a:endParaRPr>
          </a:p>
          <a:p>
            <a:endParaRPr lang="zh-CN" alt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zh-CN" altLang="en-US" dirty="0" smtClean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正文"/>
          <p:cNvSpPr txBox="1">
            <a:spLocks noGrp="1"/>
          </p:cNvSpPr>
          <p:nvPr/>
        </p:nvSpPr>
        <p:spPr>
          <a:xfrm>
            <a:off x="501015" y="908050"/>
            <a:ext cx="11166475" cy="73406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000" b="0" i="0" u="none" strike="noStrike" cap="none" spc="0" baseline="0">
                <a:solidFill>
                  <a:srgbClr val="383841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695325" marR="0" indent="-238125" algn="l" defTabSz="914400" rtl="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–"/>
              <a:defRPr sz="2000" b="0" i="0" u="none" strike="noStrike" cap="none" spc="0" baseline="0">
                <a:solidFill>
                  <a:srgbClr val="383841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104900" marR="0" indent="-190500" algn="l" defTabSz="914400" rtl="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000" b="0" i="0" u="none" strike="noStrike" cap="none" spc="0" baseline="0">
                <a:solidFill>
                  <a:srgbClr val="383841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600200" marR="0" indent="-228600" algn="l" defTabSz="914400" rtl="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–"/>
              <a:defRPr sz="2000" b="0" i="0" u="none" strike="noStrike" cap="none" spc="0" baseline="0">
                <a:solidFill>
                  <a:srgbClr val="383841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057400" marR="0" indent="-228600" algn="l" defTabSz="914400" rtl="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»"/>
              <a:defRPr sz="2000" b="0" i="0" u="none" strike="noStrike" cap="none" spc="0" baseline="0">
                <a:solidFill>
                  <a:srgbClr val="383841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32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32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5661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32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023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32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</a:rPr>
              <a:t>为了防止第三方随意调用，对</a:t>
            </a:r>
            <a:r>
              <a:rPr lang="en-US" altLang="zh-CN" dirty="0" smtClean="0">
                <a:solidFill>
                  <a:schemeClr val="bg1"/>
                </a:solidFill>
              </a:rPr>
              <a:t>RTMP</a:t>
            </a:r>
            <a:r>
              <a:rPr lang="zh-CN" altLang="en-US" dirty="0" smtClean="0">
                <a:solidFill>
                  <a:schemeClr val="bg1"/>
                </a:solidFill>
                <a:ea typeface="宋体" panose="02010600030101010101" pitchFamily="2" charset="-122"/>
              </a:rPr>
              <a:t>的</a:t>
            </a:r>
            <a:r>
              <a:rPr lang="zh-CN" altLang="en-US" dirty="0" smtClean="0">
                <a:solidFill>
                  <a:schemeClr val="bg1"/>
                </a:solidFill>
              </a:rPr>
              <a:t>防盗链和鉴权</a:t>
            </a:r>
            <a:endParaRPr lang="zh-CN" altLang="en-US" dirty="0" smtClean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3060" y="1504950"/>
            <a:ext cx="2905125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安全与审计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7730" y="1048983"/>
            <a:ext cx="9627870" cy="7874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传输安全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客户端到服务端的通信采用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协议进行，保证数据在传输过程中不被窃取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2432939"/>
            <a:ext cx="9627870" cy="7874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接口安全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前后端之间的接口调用采用参数签名机制，保证数据不被篡改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3497688"/>
            <a:ext cx="962787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数据存储安全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在客户端的数据都经过加密处理，即使客户端被破解也能保证数据不被利用，同时结合对客户端的加固技术，防止客户端被反编译破解。数据库采用主从复制架，并且每天定时备份数据库数据文件到文件服，保证数据数据库在损坏的情况下可恢复。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7730" y="5176139"/>
            <a:ext cx="9627870" cy="7874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审计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对所有接口调用，应用点击，后台操作都记录详细操作日志，以可视化的方式供查询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部署架构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3" name="直线连接符 32"/>
          <p:cNvCxnSpPr/>
          <p:nvPr/>
        </p:nvCxnSpPr>
        <p:spPr>
          <a:xfrm>
            <a:off x="1190267" y="1494913"/>
            <a:ext cx="9959008" cy="0"/>
          </a:xfrm>
          <a:prstGeom prst="line">
            <a:avLst/>
          </a:prstGeom>
          <a:ln w="28575">
            <a:solidFill>
              <a:srgbClr val="AADB1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2290172" y="3310831"/>
            <a:ext cx="1009900" cy="542858"/>
            <a:chOff x="3222511" y="2976382"/>
            <a:chExt cx="1009900" cy="542858"/>
          </a:xfrm>
        </p:grpSpPr>
        <p:sp>
          <p:nvSpPr>
            <p:cNvPr id="35" name="矩形 34"/>
            <p:cNvSpPr/>
            <p:nvPr/>
          </p:nvSpPr>
          <p:spPr>
            <a:xfrm>
              <a:off x="3222511" y="2976382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应用服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310305" y="3046743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955548" y="3310831"/>
            <a:ext cx="1009900" cy="542858"/>
            <a:chOff x="3222511" y="2976382"/>
            <a:chExt cx="1009900" cy="542858"/>
          </a:xfrm>
        </p:grpSpPr>
        <p:sp>
          <p:nvSpPr>
            <p:cNvPr id="41" name="矩形 40"/>
            <p:cNvSpPr/>
            <p:nvPr/>
          </p:nvSpPr>
          <p:spPr>
            <a:xfrm>
              <a:off x="3222511" y="2976382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应用服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3310305" y="3046743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Tomcat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286300" y="3312039"/>
            <a:ext cx="1009900" cy="542858"/>
            <a:chOff x="3222511" y="2976382"/>
            <a:chExt cx="1009900" cy="542858"/>
          </a:xfrm>
        </p:grpSpPr>
        <p:sp>
          <p:nvSpPr>
            <p:cNvPr id="48" name="矩形 47"/>
            <p:cNvSpPr/>
            <p:nvPr/>
          </p:nvSpPr>
          <p:spPr>
            <a:xfrm>
              <a:off x="3222511" y="2976382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应用服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3310305" y="3046743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Nginx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871893" y="3327539"/>
            <a:ext cx="1009900" cy="542858"/>
            <a:chOff x="3222511" y="2976382"/>
            <a:chExt cx="1009900" cy="542858"/>
          </a:xfrm>
        </p:grpSpPr>
        <p:sp>
          <p:nvSpPr>
            <p:cNvPr id="51" name="矩形 50"/>
            <p:cNvSpPr/>
            <p:nvPr/>
          </p:nvSpPr>
          <p:spPr>
            <a:xfrm>
              <a:off x="3222511" y="2976382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应用服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310305" y="3046743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Nginx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506197" y="1011290"/>
            <a:ext cx="1009900" cy="542858"/>
            <a:chOff x="3222511" y="2976382"/>
            <a:chExt cx="1009900" cy="542858"/>
          </a:xfrm>
        </p:grpSpPr>
        <p:sp>
          <p:nvSpPr>
            <p:cNvPr id="54" name="矩形 53"/>
            <p:cNvSpPr/>
            <p:nvPr/>
          </p:nvSpPr>
          <p:spPr>
            <a:xfrm>
              <a:off x="3222511" y="2976382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应用服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3310305" y="3046743"/>
              <a:ext cx="922106" cy="472497"/>
            </a:xfrm>
            <a:prstGeom prst="rect">
              <a:avLst/>
            </a:prstGeom>
            <a:solidFill>
              <a:schemeClr val="tx2"/>
            </a:solidFill>
            <a:ln w="6350"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74000">
                    <a:schemeClr val="accent2"/>
                  </a:gs>
                  <a:gs pos="83000">
                    <a:schemeClr val="accent2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负载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\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解包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F5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5723650" y="4855385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999873" y="5816589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461827" y="5816589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3" name="直线箭头连接符 62"/>
          <p:cNvCxnSpPr>
            <a:stCxn id="60" idx="2"/>
            <a:endCxn id="61" idx="0"/>
          </p:cNvCxnSpPr>
          <p:nvPr/>
        </p:nvCxnSpPr>
        <p:spPr>
          <a:xfrm flipH="1">
            <a:off x="5460926" y="5327882"/>
            <a:ext cx="723777" cy="488707"/>
          </a:xfrm>
          <a:prstGeom prst="straightConnector1">
            <a:avLst/>
          </a:prstGeom>
          <a:ln>
            <a:solidFill>
              <a:srgbClr val="AADB1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/>
          <p:cNvCxnSpPr>
            <a:stCxn id="60" idx="2"/>
          </p:cNvCxnSpPr>
          <p:nvPr/>
        </p:nvCxnSpPr>
        <p:spPr>
          <a:xfrm>
            <a:off x="6184703" y="5327882"/>
            <a:ext cx="738177" cy="488707"/>
          </a:xfrm>
          <a:prstGeom prst="straightConnector1">
            <a:avLst/>
          </a:prstGeom>
          <a:ln>
            <a:solidFill>
              <a:srgbClr val="AADB1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箭头连接符 64"/>
          <p:cNvCxnSpPr>
            <a:stCxn id="61" idx="3"/>
            <a:endCxn id="62" idx="1"/>
          </p:cNvCxnSpPr>
          <p:nvPr/>
        </p:nvCxnSpPr>
        <p:spPr>
          <a:xfrm>
            <a:off x="5921979" y="6052838"/>
            <a:ext cx="539848" cy="0"/>
          </a:xfrm>
          <a:prstGeom prst="straightConnector1">
            <a:avLst/>
          </a:prstGeom>
          <a:ln>
            <a:solidFill>
              <a:srgbClr val="AADB1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8064457" y="4855385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文件存储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线箭头连接符 67"/>
          <p:cNvCxnSpPr>
            <a:stCxn id="66" idx="0"/>
            <a:endCxn id="43" idx="2"/>
          </p:cNvCxnSpPr>
          <p:nvPr/>
        </p:nvCxnSpPr>
        <p:spPr>
          <a:xfrm flipH="1" flipV="1">
            <a:off x="4504395" y="3853689"/>
            <a:ext cx="4021115" cy="100169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/>
          <p:cNvCxnSpPr>
            <a:stCxn id="66" idx="0"/>
            <a:endCxn id="37" idx="2"/>
          </p:cNvCxnSpPr>
          <p:nvPr/>
        </p:nvCxnSpPr>
        <p:spPr>
          <a:xfrm flipH="1" flipV="1">
            <a:off x="2839019" y="3853689"/>
            <a:ext cx="5686491" cy="100169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>
            <a:endCxn id="35" idx="0"/>
          </p:cNvCxnSpPr>
          <p:nvPr/>
        </p:nvCxnSpPr>
        <p:spPr>
          <a:xfrm flipH="1">
            <a:off x="2751225" y="1554148"/>
            <a:ext cx="3330752" cy="1756683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/>
          <p:cNvCxnSpPr/>
          <p:nvPr/>
        </p:nvCxnSpPr>
        <p:spPr>
          <a:xfrm flipH="1">
            <a:off x="4416601" y="1554148"/>
            <a:ext cx="1665376" cy="1768531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/>
          <p:cNvCxnSpPr>
            <a:stCxn id="55" idx="2"/>
            <a:endCxn id="48" idx="0"/>
          </p:cNvCxnSpPr>
          <p:nvPr/>
        </p:nvCxnSpPr>
        <p:spPr>
          <a:xfrm>
            <a:off x="6055044" y="1554148"/>
            <a:ext cx="1692309" cy="1757891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箭头连接符 73"/>
          <p:cNvCxnSpPr>
            <a:stCxn id="55" idx="2"/>
            <a:endCxn id="51" idx="0"/>
          </p:cNvCxnSpPr>
          <p:nvPr/>
        </p:nvCxnSpPr>
        <p:spPr>
          <a:xfrm>
            <a:off x="6055044" y="1554148"/>
            <a:ext cx="3277902" cy="1773391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/>
          <p:cNvCxnSpPr>
            <a:stCxn id="37" idx="2"/>
            <a:endCxn id="88" idx="0"/>
          </p:cNvCxnSpPr>
          <p:nvPr/>
        </p:nvCxnSpPr>
        <p:spPr>
          <a:xfrm flipH="1">
            <a:off x="2794463" y="3853689"/>
            <a:ext cx="44556" cy="7654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/>
          <p:cNvCxnSpPr>
            <a:stCxn id="37" idx="2"/>
            <a:endCxn id="60" idx="0"/>
          </p:cNvCxnSpPr>
          <p:nvPr/>
        </p:nvCxnSpPr>
        <p:spPr>
          <a:xfrm>
            <a:off x="2839019" y="3853689"/>
            <a:ext cx="3345684" cy="1001696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/>
          <p:cNvCxnSpPr>
            <a:stCxn id="43" idx="2"/>
            <a:endCxn id="60" idx="0"/>
          </p:cNvCxnSpPr>
          <p:nvPr/>
        </p:nvCxnSpPr>
        <p:spPr>
          <a:xfrm>
            <a:off x="4504395" y="3853689"/>
            <a:ext cx="1680308" cy="1001696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/>
          <p:cNvCxnSpPr/>
          <p:nvPr/>
        </p:nvCxnSpPr>
        <p:spPr>
          <a:xfrm>
            <a:off x="10156502" y="431433"/>
            <a:ext cx="0" cy="1022537"/>
          </a:xfrm>
          <a:prstGeom prst="straightConnector1">
            <a:avLst/>
          </a:prstGeom>
          <a:ln w="28575"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/>
          <p:cNvCxnSpPr/>
          <p:nvPr/>
        </p:nvCxnSpPr>
        <p:spPr>
          <a:xfrm>
            <a:off x="10156502" y="1554148"/>
            <a:ext cx="0" cy="1283344"/>
          </a:xfrm>
          <a:prstGeom prst="straightConnector1">
            <a:avLst/>
          </a:prstGeom>
          <a:ln w="28575"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10181450" y="872790"/>
            <a:ext cx="96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</a:rPr>
              <a:t>HTTPS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181450" y="2065874"/>
            <a:ext cx="96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</a:rPr>
              <a:t>HTTP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250932" y="4445457"/>
            <a:ext cx="96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</a:rPr>
              <a:t>NFS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938875" y="5531485"/>
            <a:ext cx="506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</a:rPr>
              <a:t>集群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33410" y="4619136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（主）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333410" y="5584757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（从）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0" name="直线箭头连接符 89"/>
          <p:cNvCxnSpPr>
            <a:stCxn id="88" idx="2"/>
            <a:endCxn id="89" idx="0"/>
          </p:cNvCxnSpPr>
          <p:nvPr/>
        </p:nvCxnSpPr>
        <p:spPr>
          <a:xfrm>
            <a:off x="2794463" y="5091633"/>
            <a:ext cx="0" cy="493124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2310550" y="5161994"/>
            <a:ext cx="96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>
                <a:solidFill>
                  <a:schemeClr val="bg1"/>
                </a:solidFill>
              </a:rPr>
              <a:t>binlog</a:t>
            </a:r>
            <a:r>
              <a:rPr kumimoji="1" lang="zh-CN" altLang="en-US" sz="1200" dirty="0">
                <a:solidFill>
                  <a:schemeClr val="bg1"/>
                </a:solidFill>
              </a:rPr>
              <a:t>同步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cxnSp>
        <p:nvCxnSpPr>
          <p:cNvPr id="96" name="直线箭头连接符 95"/>
          <p:cNvCxnSpPr>
            <a:stCxn id="43" idx="2"/>
            <a:endCxn id="88" idx="0"/>
          </p:cNvCxnSpPr>
          <p:nvPr/>
        </p:nvCxnSpPr>
        <p:spPr>
          <a:xfrm flipH="1">
            <a:off x="2794463" y="3853689"/>
            <a:ext cx="1709932" cy="7654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3738141" y="4619136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（主）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738141" y="5584757"/>
            <a:ext cx="922106" cy="47249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（从）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5" name="直线箭头连接符 89"/>
          <p:cNvCxnSpPr>
            <a:stCxn id="100" idx="2"/>
            <a:endCxn id="101" idx="0"/>
          </p:cNvCxnSpPr>
          <p:nvPr/>
        </p:nvCxnSpPr>
        <p:spPr>
          <a:xfrm>
            <a:off x="4199194" y="5091633"/>
            <a:ext cx="0" cy="493124"/>
          </a:xfrm>
          <a:prstGeom prst="straightConnector1">
            <a:avLst/>
          </a:prstGeom>
          <a:ln>
            <a:solidFill>
              <a:srgbClr val="AADB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90"/>
          <p:cNvSpPr txBox="1"/>
          <p:nvPr/>
        </p:nvSpPr>
        <p:spPr>
          <a:xfrm>
            <a:off x="3715281" y="5161994"/>
            <a:ext cx="96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>
                <a:solidFill>
                  <a:schemeClr val="bg1"/>
                </a:solidFill>
              </a:rPr>
              <a:t>binlog</a:t>
            </a:r>
            <a:r>
              <a:rPr kumimoji="1" lang="zh-CN" altLang="en-US" sz="1200" dirty="0">
                <a:solidFill>
                  <a:schemeClr val="bg1"/>
                </a:solidFill>
              </a:rPr>
              <a:t>同步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cxnSp>
        <p:nvCxnSpPr>
          <p:cNvPr id="107" name="直线箭头连接符 74"/>
          <p:cNvCxnSpPr>
            <a:stCxn id="37" idx="2"/>
            <a:endCxn id="100" idx="0"/>
          </p:cNvCxnSpPr>
          <p:nvPr/>
        </p:nvCxnSpPr>
        <p:spPr>
          <a:xfrm>
            <a:off x="2839019" y="3853689"/>
            <a:ext cx="1360175" cy="76544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95"/>
          <p:cNvCxnSpPr>
            <a:endCxn id="100" idx="0"/>
          </p:cNvCxnSpPr>
          <p:nvPr/>
        </p:nvCxnSpPr>
        <p:spPr>
          <a:xfrm flipH="1">
            <a:off x="4199194" y="3870397"/>
            <a:ext cx="312667" cy="7487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3135" y="638810"/>
            <a:ext cx="103695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技术架构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36645" y="2962910"/>
            <a:ext cx="107061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58305" y="2962910"/>
            <a:ext cx="92202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线箭头连接符 41"/>
          <p:cNvCxnSpPr>
            <a:endCxn id="61" idx="0"/>
          </p:cNvCxnSpPr>
          <p:nvPr/>
        </p:nvCxnSpPr>
        <p:spPr>
          <a:xfrm>
            <a:off x="5657215" y="1852930"/>
            <a:ext cx="0" cy="901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3601085" y="1544955"/>
            <a:ext cx="4133215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推流服务器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1" name="直线箭头连接符 41"/>
          <p:cNvCxnSpPr/>
          <p:nvPr/>
        </p:nvCxnSpPr>
        <p:spPr>
          <a:xfrm flipH="1">
            <a:off x="5752465" y="3511550"/>
            <a:ext cx="6985" cy="57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41"/>
          <p:cNvCxnSpPr/>
          <p:nvPr/>
        </p:nvCxnSpPr>
        <p:spPr>
          <a:xfrm flipH="1">
            <a:off x="4399280" y="3511550"/>
            <a:ext cx="6985" cy="57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3020060" y="2753995"/>
            <a:ext cx="5274310" cy="93091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746115" y="2119630"/>
            <a:ext cx="2911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RTMP协议，视频编码格式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H.264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、音频编码格式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AAC</a:t>
            </a:r>
            <a:endParaRPr lang="en-US" altLang="zh-CN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601085" y="4088130"/>
            <a:ext cx="2803525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本地存储视频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3174" y="2909362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 直播、点播</a:t>
            </a:r>
            <a:endParaRPr lang="zh-CN" altLang="en-US" sz="1600" b="1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953174" y="1389385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服务端</a:t>
            </a:r>
            <a:endParaRPr lang="zh-CN" altLang="en-US" sz="1600" b="1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953174" y="3932347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 存储视频</a:t>
            </a:r>
            <a:endParaRPr lang="zh-CN" altLang="en-US" sz="1600" b="1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97475" y="2962910"/>
            <a:ext cx="1070610" cy="472440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3105" y="3813175"/>
            <a:ext cx="9610725" cy="103441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39965" y="4188460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+mj-ea"/>
                <a:ea typeface="+mj-ea"/>
              </a:rPr>
              <a:t>此功能不需要了，删除</a:t>
            </a:r>
            <a:endParaRPr lang="zh-CN" altLang="en-US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21740" y="610870"/>
            <a:ext cx="103695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400">
                <a:solidFill>
                  <a:schemeClr val="bg1"/>
                </a:solidFill>
                <a:sym typeface="+mn-ea"/>
              </a:rPr>
              <a:t>具体技术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1221740" y="1463849"/>
            <a:ext cx="811149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移动端</a:t>
            </a:r>
            <a:endParaRPr lang="zh-CN" altLang="en-US" sz="160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移动端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原生开发，通过集成Bilibli开源的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ijkplayer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库（支持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1740" y="2479040"/>
            <a:ext cx="87915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</a:t>
            </a:r>
            <a:r>
              <a:rPr lang="zh-CN" altLang="en-US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端</a:t>
            </a:r>
            <a:endParaRPr lang="zh-CN" altLang="en-US" sz="1600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600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通过集成Bilibli开源的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flv.js</a:t>
            </a:r>
            <a:r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实现不借助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flash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实时播放视频。（原）</a:t>
            </a:r>
            <a:endParaRPr lang="zh-CN" altLang="en-US" sz="1600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通过集成Bilibli开源的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flv.js</a:t>
            </a:r>
            <a:r>
              <a:rPr lang="zh-CN" altLang="en-US" sz="16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库，结合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h5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提供的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video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实现不借助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flash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实时播放视频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（改）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1740" y="4292544"/>
            <a:ext cx="241808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视频存储</a:t>
            </a:r>
            <a:endParaRPr lang="zh-CN" altLang="en-US" sz="1600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移动端本地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存储视频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21740" y="4216400"/>
            <a:ext cx="9610725" cy="103441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48600" y="459168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+mj-ea"/>
                <a:ea typeface="+mj-ea"/>
              </a:rPr>
              <a:t>此功能不需要了，删除</a:t>
            </a:r>
            <a:endParaRPr lang="zh-CN" altLang="en-US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21740" y="2479040"/>
            <a:ext cx="9610725" cy="1322070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24813" y="601142"/>
            <a:ext cx="10624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关于性能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24812" y="3252387"/>
            <a:ext cx="7546813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</a:t>
            </a:r>
            <a:r>
              <a:rPr lang="zh-CN" altLang="en-US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端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flv.js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优点：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1.同时支持录播和直播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2.由于浏览器对原生Video标签采用了硬件加速，性能很好，支持高清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3.去掉对Flash的依赖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24813" y="1674643"/>
            <a:ext cx="3912235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1600" dirty="0" smtClean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集成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ijkplayer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优点：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，实现了跨平台功能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2.支持硬件加速解码，更加省电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zoomlion">
      <a:dk1>
        <a:srgbClr val="000000"/>
      </a:dk1>
      <a:lt1>
        <a:sysClr val="window" lastClr="FFFFFF"/>
      </a:lt1>
      <a:dk2>
        <a:srgbClr val="383841"/>
      </a:dk2>
      <a:lt2>
        <a:srgbClr val="727171"/>
      </a:lt2>
      <a:accent1>
        <a:srgbClr val="BCB5AF"/>
      </a:accent1>
      <a:accent2>
        <a:srgbClr val="AADB1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2442</Words>
  <Application>WPS 演示</Application>
  <PresentationFormat>宽屏</PresentationFormat>
  <Paragraphs>274</Paragraphs>
  <Slides>20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方正书宋_GBK</vt:lpstr>
      <vt:lpstr>Wingdings</vt:lpstr>
      <vt:lpstr>微软雅黑</vt:lpstr>
      <vt:lpstr>汉仪旗黑KW</vt:lpstr>
      <vt:lpstr>Calibri</vt:lpstr>
      <vt:lpstr>Arial</vt:lpstr>
      <vt:lpstr>宋体</vt:lpstr>
      <vt:lpstr>汉仪书宋二KW</vt:lpstr>
      <vt:lpstr>宋体</vt:lpstr>
      <vt:lpstr>Arial Unicode MS</vt:lpstr>
      <vt:lpstr>Helvetica Neue</vt:lpstr>
      <vt:lpstr>Arial Black</vt:lpstr>
      <vt:lpstr>黑体</vt:lpstr>
      <vt:lpstr>汉仪中黑KW</vt:lpstr>
      <vt:lpstr>等线</vt:lpstr>
      <vt:lpstr>汉仪中等线KW</vt:lpstr>
      <vt:lpstr>微软雅黑</vt:lpstr>
      <vt:lpstr>Office 主题​​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宇翔</dc:creator>
  <cp:lastModifiedBy>yulinliu</cp:lastModifiedBy>
  <cp:revision>314</cp:revision>
  <dcterms:created xsi:type="dcterms:W3CDTF">2020-02-18T12:56:23Z</dcterms:created>
  <dcterms:modified xsi:type="dcterms:W3CDTF">2020-02-18T12:56:23Z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2052-1.9.1.2994</vt:lpwstr>
  </property>
</Properties>
</file>