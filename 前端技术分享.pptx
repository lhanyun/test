
<file path=[Content_Types].xml><?xml version="1.0" encoding="utf-8"?>
<Types xmlns="http://schemas.openxmlformats.org/package/2006/content-types">
  <Default Extension="jpeg" ContentType="image/jpe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9" r:id="rId3"/>
    <p:sldId id="368" r:id="rId5"/>
    <p:sldId id="347" r:id="rId6"/>
    <p:sldId id="354" r:id="rId7"/>
    <p:sldId id="355" r:id="rId8"/>
    <p:sldId id="358" r:id="rId9"/>
    <p:sldId id="359" r:id="rId10"/>
    <p:sldId id="353" r:id="rId11"/>
    <p:sldId id="348" r:id="rId12"/>
    <p:sldId id="349" r:id="rId13"/>
    <p:sldId id="341" r:id="rId14"/>
    <p:sldId id="360" r:id="rId15"/>
    <p:sldId id="346" r:id="rId16"/>
    <p:sldId id="357" r:id="rId17"/>
    <p:sldId id="35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8C87"/>
    <a:srgbClr val="AADB1E"/>
    <a:srgbClr val="0D1D3E"/>
    <a:srgbClr val="0E1F42"/>
    <a:srgbClr val="1699AA"/>
    <a:srgbClr val="0B1938"/>
    <a:srgbClr val="72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 autoAdjust="0"/>
    <p:restoredTop sz="89148" autoAdjust="0"/>
  </p:normalViewPr>
  <p:slideViewPr>
    <p:cSldViewPr snapToGrid="0" showGuides="1">
      <p:cViewPr varScale="1">
        <p:scale>
          <a:sx n="112" d="100"/>
          <a:sy n="112" d="100"/>
        </p:scale>
        <p:origin x="800" y="192"/>
      </p:cViewPr>
      <p:guideLst>
        <p:guide orient="horz" pos="2140"/>
        <p:guide pos="379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4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4"/>
          <c:y val="0.0997333333333333"/>
          <c:w val="0.6518"/>
          <c:h val="0.86906666666666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时间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50799257739807"/>
                  <c:y val="0.037995305112804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组件相关</c:v>
                </c:pt>
                <c:pt idx="1">
                  <c:v>交互场景</c:v>
                </c:pt>
                <c:pt idx="2">
                  <c:v>流程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60702869581483"/>
          <c:y val="0.66011122923393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A3D2-5EE1-4337-B09B-C9AD7BF1CB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14.jpe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15.jpe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29" name="椭圆 28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29" name="椭圆 28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15" name="文本框 14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连接符 15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图片包含 室内, 工厂, 建筑物&#10;&#10;已生成极高可信度的说明"/>
          <p:cNvPicPr>
            <a:picLocks noChangeAspect="1"/>
          </p:cNvPicPr>
          <p:nvPr userDrawn="1"/>
        </p:nvPicPr>
        <p:blipFill rotWithShape="1"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3" b="102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28" name="组合 27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29" name="文本框 28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34" name="椭圆 33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42" name="文本框 4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3" name="直接连接符 42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46" name="文本框 4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7" name="直接连接符 4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586364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34" name="椭圆 33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42" name="文本框 4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3" name="直接连接符 42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46" name="文本框 4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7" name="直接连接符 4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29" name="椭圆 28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15" name="文本框 14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连接符 15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pic>
        <p:nvPicPr>
          <p:cNvPr id="3" name="图片 2" descr="图片包含 室内, 工厂, 建筑物&#10;&#10;已生成极高可信度的说明"/>
          <p:cNvPicPr>
            <a:picLocks noChangeAspect="1"/>
          </p:cNvPicPr>
          <p:nvPr userDrawn="1"/>
        </p:nvPicPr>
        <p:blipFill rotWithShape="1"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3" b="10206"/>
          <a:stretch>
            <a:fillRect/>
          </a:stretch>
        </p:blipFill>
        <p:spPr>
          <a:xfrm>
            <a:off x="-23586" y="-10160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28" name="组合 27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29" name="文本框 28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62" name="图片 61"/>
          <p:cNvPicPr>
            <a:picLocks noChangeAspect="1"/>
          </p:cNvPicPr>
          <p:nvPr userDrawn="1"/>
        </p:nvPicPr>
        <p:blipFill rotWithShape="1">
          <a:blip r:embed="rId7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73637"/>
            <a:ext cx="12192000" cy="591578"/>
          </a:xfrm>
          <a:prstGeom prst="rect">
            <a:avLst/>
          </a:prstGeom>
        </p:spPr>
      </p:pic>
      <p:grpSp>
        <p:nvGrpSpPr>
          <p:cNvPr id="63" name="组合 62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64" name="椭圆 63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66" name="组合 65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67" name="椭圆 6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70" name="椭圆 69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72" name="组合 71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73" name="椭圆 7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75" name="组合 74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76" name="文本框 7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77" name="直接连接符 7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80" name="文本框 79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81" name="直接连接符 80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50801"/>
            <a:ext cx="12230100" cy="6908801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62" name="图片 61"/>
          <p:cNvPicPr>
            <a:picLocks noChangeAspect="1"/>
          </p:cNvPicPr>
          <p:nvPr userDrawn="1"/>
        </p:nvPicPr>
        <p:blipFill rotWithShape="1">
          <a:blip r:embed="rId7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63" name="组合 62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64" name="椭圆 63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66" name="组合 65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67" name="椭圆 6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70" name="椭圆 69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72" name="组合 71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73" name="椭圆 7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75" name="组合 74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76" name="文本框 7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77" name="直接连接符 7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80" name="文本框 79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81" name="直接连接符 80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1BE-D98B-4150-A83D-D7CACD540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1BE-D98B-4150-A83D-D7CACD540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71BE-D98B-4150-A83D-D7CACD5406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01215" y="3014345"/>
            <a:ext cx="84067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客户侧</a:t>
            </a:r>
            <a:r>
              <a:rPr lang="zh-CN" sz="48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产品前端</a:t>
            </a:r>
            <a:r>
              <a:rPr lang="zh-CN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研发最佳实践</a:t>
            </a:r>
            <a:endParaRPr lang="zh-CN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45245" y="4608830"/>
            <a:ext cx="1562735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bg1"/>
                </a:solidFill>
              </a:rPr>
              <a:t>产品部</a:t>
            </a:r>
            <a:r>
              <a:rPr lang="en-US" altLang="zh-CN" sz="1600" dirty="0" smtClean="0">
                <a:solidFill>
                  <a:schemeClr val="bg1"/>
                </a:solidFill>
              </a:rPr>
              <a:t>·</a:t>
            </a:r>
            <a:r>
              <a:rPr lang="zh-CN" altLang="en-US" sz="1600" dirty="0" smtClean="0">
                <a:solidFill>
                  <a:schemeClr val="bg1"/>
                </a:solidFill>
              </a:rPr>
              <a:t>刘宇琳</a:t>
            </a:r>
            <a:endParaRPr lang="zh-CN" altLang="en-US" sz="1600" dirty="0" smtClean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64650" y="5019675"/>
            <a:ext cx="1243330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2019.12.26</a:t>
            </a:r>
            <a:endParaRPr lang="en-US" sz="16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78205" y="527685"/>
            <a:ext cx="1093533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前端技术栈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37125" y="2814320"/>
            <a:ext cx="2317750" cy="1109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solidFill>
                  <a:schemeClr val="bg1"/>
                </a:solidFill>
              </a:rPr>
              <a:t>开发者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684020" y="2814320"/>
            <a:ext cx="2453640" cy="112966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ES5/ES6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684020" y="4568825"/>
            <a:ext cx="2453640" cy="1129665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Scss/Less/Stylus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954905" y="4568825"/>
            <a:ext cx="2453640" cy="112966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Element-UI/Vant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1684655" y="1170305"/>
            <a:ext cx="2452370" cy="11296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Vue/React/Angular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8232775" y="4568825"/>
            <a:ext cx="2453005" cy="11296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Postcss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954905" y="1170305"/>
            <a:ext cx="2453640" cy="112966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Webpack/Gulp/Rollup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232140" y="1170305"/>
            <a:ext cx="2453640" cy="112966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Babel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232775" y="2804160"/>
            <a:ext cx="2453005" cy="112966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。。。</a:t>
            </a:r>
            <a:endParaRPr lang="zh-CN" altLang="en-US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78205" y="527685"/>
            <a:ext cx="1093533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开发者的时间都去哪了？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8205" y="1283970"/>
            <a:ext cx="65182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· </a:t>
            </a:r>
            <a:r>
              <a:rPr lang="zh-CN" altLang="en-US" sz="1600" dirty="0">
                <a:solidFill>
                  <a:schemeClr val="bg1"/>
                </a:solidFill>
              </a:rPr>
              <a:t>流程 </a:t>
            </a:r>
            <a:r>
              <a:rPr lang="en-US" altLang="zh-CN" sz="1600" dirty="0">
                <a:solidFill>
                  <a:schemeClr val="bg1"/>
                </a:solidFill>
              </a:rPr>
              <a:t>20%</a:t>
            </a:r>
            <a:endParaRPr lang="zh-CN" altLang="en-US" sz="16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  </a:t>
            </a:r>
            <a:r>
              <a:rPr lang="en-US" altLang="zh-CN" sz="1600" dirty="0">
                <a:solidFill>
                  <a:schemeClr val="bg1"/>
                </a:solidFill>
              </a:rPr>
              <a:t>· </a:t>
            </a:r>
            <a:r>
              <a:rPr lang="zh-CN" altLang="en-US" sz="1600" dirty="0">
                <a:solidFill>
                  <a:schemeClr val="bg1"/>
                </a:solidFill>
              </a:rPr>
              <a:t>创建、联调、部署、发布、</a:t>
            </a:r>
            <a:r>
              <a:rPr lang="en-US" altLang="zh-CN" sz="1600" dirty="0">
                <a:solidFill>
                  <a:schemeClr val="bg1"/>
                </a:solidFill>
              </a:rPr>
              <a:t>...</a:t>
            </a:r>
            <a:endParaRPr lang="en-US" altLang="zh-CN" sz="16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· </a:t>
            </a:r>
            <a:r>
              <a:rPr lang="zh-CN" altLang="en-US" sz="1600" dirty="0">
                <a:solidFill>
                  <a:schemeClr val="bg1"/>
                </a:solidFill>
              </a:rPr>
              <a:t>本地开发</a:t>
            </a:r>
            <a:endParaRPr lang="zh-CN" altLang="en-US" sz="16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  </a:t>
            </a:r>
            <a:r>
              <a:rPr lang="en-US" altLang="zh-CN" sz="1600" dirty="0">
                <a:solidFill>
                  <a:schemeClr val="bg1"/>
                </a:solidFill>
              </a:rPr>
              <a:t>· </a:t>
            </a:r>
            <a:r>
              <a:rPr lang="zh-CN" altLang="en-US" sz="1600" dirty="0">
                <a:solidFill>
                  <a:schemeClr val="bg1"/>
                </a:solidFill>
              </a:rPr>
              <a:t>组件使用和业务组件开发</a:t>
            </a:r>
            <a:r>
              <a:rPr lang="en-US" altLang="zh-CN" sz="1600" dirty="0">
                <a:solidFill>
                  <a:schemeClr val="bg1"/>
                </a:solidFill>
              </a:rPr>
              <a:t>40%</a:t>
            </a:r>
            <a:endParaRPr lang="en-US" altLang="zh-CN" sz="16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  · </a:t>
            </a:r>
            <a:r>
              <a:rPr lang="zh-CN" altLang="en-US" sz="1600" dirty="0">
                <a:solidFill>
                  <a:schemeClr val="bg1"/>
                </a:solidFill>
              </a:rPr>
              <a:t>遇到某个交互场景怎么解决</a:t>
            </a:r>
            <a:r>
              <a:rPr lang="en-US" altLang="zh-CN" sz="1600" dirty="0">
                <a:solidFill>
                  <a:schemeClr val="bg1"/>
                </a:solidFill>
              </a:rPr>
              <a:t>30%</a:t>
            </a:r>
            <a:endParaRPr lang="en-US" altLang="zh-CN" sz="16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· </a:t>
            </a:r>
            <a:r>
              <a:rPr lang="zh-CN" altLang="en-US" sz="1600" dirty="0">
                <a:solidFill>
                  <a:schemeClr val="bg1"/>
                </a:solidFill>
              </a:rPr>
              <a:t>其他 </a:t>
            </a:r>
            <a:r>
              <a:rPr lang="en-US" altLang="zh-CN" sz="1600" dirty="0">
                <a:solidFill>
                  <a:schemeClr val="bg1"/>
                </a:solidFill>
              </a:rPr>
              <a:t>10%</a:t>
            </a:r>
            <a:endParaRPr lang="en-US" altLang="zh-CN" sz="16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  · </a:t>
            </a:r>
            <a:r>
              <a:rPr lang="zh-CN" altLang="en-US" sz="1600" dirty="0">
                <a:solidFill>
                  <a:schemeClr val="bg1"/>
                </a:solidFill>
              </a:rPr>
              <a:t>和产品经理扯皮、</a:t>
            </a:r>
            <a:r>
              <a:rPr lang="en-US" altLang="zh-CN" sz="1600" dirty="0" smtClean="0">
                <a:solidFill>
                  <a:schemeClr val="bg1"/>
                </a:solidFill>
              </a:rPr>
              <a:t>...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6831330" y="1582420"/>
          <a:ext cx="4621530" cy="369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饼形 9"/>
          <p:cNvSpPr/>
          <p:nvPr/>
        </p:nvSpPr>
        <p:spPr>
          <a:xfrm rot="19380000">
            <a:off x="7371715" y="2034540"/>
            <a:ext cx="3011805" cy="3037840"/>
          </a:xfrm>
          <a:prstGeom prst="pie">
            <a:avLst>
              <a:gd name="adj1" fmla="val 18432316"/>
              <a:gd name="adj2" fmla="val 16244405"/>
            </a:avLst>
          </a:prstGeom>
          <a:solidFill>
            <a:srgbClr val="AADB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bg1"/>
              </a:solidFill>
              <a:sym typeface="+mn-ea"/>
            </a:endParaRPr>
          </a:p>
          <a:p>
            <a:pPr algn="ctr"/>
            <a:endParaRPr lang="en-US" altLang="zh-CN" dirty="0">
              <a:solidFill>
                <a:schemeClr val="bg1"/>
              </a:solidFill>
              <a:sym typeface="+mn-ea"/>
            </a:endParaRPr>
          </a:p>
          <a:p>
            <a:pPr algn="ctr"/>
            <a:endParaRPr lang="en-US" altLang="zh-CN" dirty="0">
              <a:solidFill>
                <a:schemeClr val="bg1"/>
              </a:solidFill>
              <a:sym typeface="+mn-ea"/>
            </a:endParaRPr>
          </a:p>
          <a:p>
            <a:pPr algn="ctr"/>
            <a:endParaRPr lang="en-US" altLang="zh-CN" dirty="0">
              <a:solidFill>
                <a:schemeClr val="bg1"/>
              </a:solidFill>
              <a:sym typeface="+mn-ea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sym typeface="+mn-ea"/>
              </a:rPr>
              <a:t>90%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8205" y="5275580"/>
            <a:ext cx="44196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着力解决</a:t>
            </a:r>
            <a:r>
              <a:rPr lang="en-US" altLang="zh-CN" sz="2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90%</a:t>
            </a:r>
            <a:r>
              <a:rPr lang="zh-CN" altLang="en-US" sz="2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这部分</a:t>
            </a:r>
            <a:endParaRPr lang="zh-CN" altLang="en-US" sz="20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8205" y="517525"/>
            <a:ext cx="1093533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 smtClean="0">
                <a:solidFill>
                  <a:schemeClr val="bg1"/>
                </a:solidFill>
              </a:rPr>
              <a:t>遇到的问题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35605" y="1329690"/>
            <a:ext cx="3556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 smtClean="0">
                <a:solidFill>
                  <a:schemeClr val="bg1"/>
                </a:solidFill>
              </a:rPr>
              <a:t>没有统一的</a:t>
            </a:r>
            <a:r>
              <a:rPr lang="en-US" altLang="zh-CN" sz="1600" dirty="0" smtClean="0">
                <a:solidFill>
                  <a:schemeClr val="bg1"/>
                </a:solidFill>
              </a:rPr>
              <a:t>UI</a:t>
            </a:r>
            <a:r>
              <a:rPr lang="zh-CN" altLang="en-US" sz="1600" dirty="0" smtClean="0">
                <a:solidFill>
                  <a:schemeClr val="bg1"/>
                </a:solidFill>
              </a:rPr>
              <a:t>标准和交互标准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35605" y="3106587"/>
            <a:ext cx="3556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 smtClean="0">
                <a:solidFill>
                  <a:schemeClr val="bg1"/>
                </a:solidFill>
              </a:rPr>
              <a:t>没有成熟的工程模板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35605" y="2499240"/>
            <a:ext cx="71913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 smtClean="0">
                <a:solidFill>
                  <a:schemeClr val="bg1"/>
                </a:solidFill>
              </a:rPr>
              <a:t>类似的页面只能从上一个项目中扣代码出来改，有很多冗余的业务代码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35288" y="1914465"/>
            <a:ext cx="7191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 smtClean="0">
                <a:solidFill>
                  <a:schemeClr val="bg1"/>
                </a:solidFill>
              </a:rPr>
              <a:t>没有一套可复用的组件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01156" y="4311024"/>
            <a:ext cx="688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 smtClean="0">
                <a:solidFill>
                  <a:schemeClr val="bg1"/>
                </a:solidFill>
              </a:rPr>
              <a:t>有很多零散的实践，但没有粘合起来，形成一套解决方案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35288" y="4895799"/>
            <a:ext cx="688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 smtClean="0">
                <a:solidFill>
                  <a:schemeClr val="bg1"/>
                </a:solidFill>
              </a:rPr>
              <a:t>……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18222" y="3726249"/>
            <a:ext cx="688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 smtClean="0">
                <a:solidFill>
                  <a:schemeClr val="bg1"/>
                </a:solidFill>
              </a:rPr>
              <a:t>没有</a:t>
            </a:r>
            <a:r>
              <a:rPr lang="en-US" altLang="zh-CN" sz="1600" dirty="0" err="1">
                <a:solidFill>
                  <a:schemeClr val="bg1"/>
                </a:solidFill>
              </a:rPr>
              <a:t>CodeReview</a:t>
            </a:r>
            <a:r>
              <a:rPr lang="zh-CN" altLang="en-US" sz="1600" dirty="0">
                <a:solidFill>
                  <a:schemeClr val="bg1"/>
                </a:solidFill>
              </a:rPr>
              <a:t>规范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8205" y="517525"/>
            <a:ext cx="1093533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 smtClean="0">
                <a:solidFill>
                  <a:schemeClr val="bg1"/>
                </a:solidFill>
              </a:rPr>
              <a:t>解决方案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70859" y="1610360"/>
            <a:ext cx="4976495" cy="6591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设计视觉和交互规范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070859" y="2574290"/>
            <a:ext cx="4976495" cy="6591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sym typeface="+mn-ea"/>
              </a:rPr>
              <a:t>设计前端框架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8205" y="517525"/>
            <a:ext cx="1093533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 smtClean="0">
                <a:solidFill>
                  <a:schemeClr val="bg1"/>
                </a:solidFill>
              </a:rPr>
              <a:t>视觉和交互规范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05" y="1014730"/>
            <a:ext cx="5958840" cy="52946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710" y="1014730"/>
            <a:ext cx="4770733" cy="529463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4" y="431800"/>
            <a:ext cx="10935336" cy="42041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5" y="4327328"/>
            <a:ext cx="10935335" cy="195917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3057523" y="1267460"/>
            <a:ext cx="4976495" cy="65913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3057525" y="3307080"/>
            <a:ext cx="4976495" cy="65913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组件体系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057525" y="5346700"/>
            <a:ext cx="4976495" cy="65913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基础设施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057525" y="4326890"/>
            <a:ext cx="4976495" cy="65913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应用开发技术栈组合方案</a:t>
            </a:r>
            <a:endParaRPr lang="zh-CN" altLang="en-US" dirty="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6455" y="537210"/>
            <a:ext cx="8042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前端框架</a:t>
            </a:r>
            <a:r>
              <a:rPr 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sz="24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建设</a:t>
            </a:r>
            <a:r>
              <a:rPr lang="zh-CN" altLang="en-US" sz="24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路径</a:t>
            </a:r>
            <a:endParaRPr 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57524" y="2287270"/>
            <a:ext cx="4976495" cy="6591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上下游打通</a:t>
            </a:r>
            <a:endParaRPr lang="en-US" altLang="zh-CN" dirty="0"/>
          </a:p>
        </p:txBody>
      </p:sp>
      <p:sp>
        <p:nvSpPr>
          <p:cNvPr id="2" name="上箭头 1"/>
          <p:cNvSpPr/>
          <p:nvPr/>
        </p:nvSpPr>
        <p:spPr>
          <a:xfrm>
            <a:off x="2186940" y="1267460"/>
            <a:ext cx="294005" cy="4738370"/>
          </a:xfrm>
          <a:prstGeom prst="upArrow">
            <a:avLst>
              <a:gd name="adj1" fmla="val 49659"/>
              <a:gd name="adj2" fmla="val 50000"/>
            </a:avLst>
          </a:prstGeom>
          <a:solidFill>
            <a:schemeClr val="accent2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97890" y="545465"/>
            <a:ext cx="109353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前端框架 </a:t>
            </a:r>
            <a:r>
              <a:rPr lang="en-US" altLang="zh-CN" sz="2400" dirty="0" smtClean="0">
                <a:solidFill>
                  <a:schemeClr val="bg1"/>
                </a:solidFill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基础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设施</a:t>
            </a:r>
            <a:endParaRPr lang="zh-CN" altLang="en-US" sz="2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7890" y="1428115"/>
            <a:ext cx="10935335" cy="1763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70000"/>
              </a:lnSpc>
            </a:pPr>
            <a:r>
              <a:rPr lang="zh-CN" altLang="en-US" sz="1600" dirty="0" smtClean="0">
                <a:solidFill>
                  <a:schemeClr val="accent2"/>
                </a:solidFill>
                <a:sym typeface="+mn-ea"/>
              </a:rPr>
              <a:t>开发、构建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：编译缓存、转译、现代模式、</a:t>
            </a:r>
            <a:r>
              <a:rPr lang="en-US" altLang="zh-CN" sz="1600" dirty="0" err="1" smtClean="0">
                <a:solidFill>
                  <a:schemeClr val="bg1"/>
                </a:solidFill>
                <a:sym typeface="+mn-ea"/>
              </a:rPr>
              <a:t>eslint+prettier+stylelint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、</a:t>
            </a:r>
            <a:r>
              <a:rPr lang="en-US" altLang="zh-CN" sz="1600" dirty="0" smtClean="0">
                <a:solidFill>
                  <a:schemeClr val="bg1"/>
                </a:solidFill>
                <a:sym typeface="+mn-ea"/>
              </a:rPr>
              <a:t>mock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、 移动端调试、</a:t>
            </a:r>
            <a:r>
              <a:rPr lang="en-US" altLang="zh-CN" sz="1600" dirty="0" smtClean="0">
                <a:solidFill>
                  <a:schemeClr val="bg1"/>
                </a:solidFill>
                <a:sym typeface="+mn-ea"/>
              </a:rPr>
              <a:t>hybrid-sdk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、文档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170000"/>
              </a:lnSpc>
            </a:pPr>
            <a:r>
              <a:rPr lang="zh-CN" altLang="en-US" sz="1600" dirty="0" smtClean="0">
                <a:solidFill>
                  <a:schemeClr val="accent2"/>
                </a:solidFill>
                <a:sym typeface="+mn-ea"/>
              </a:rPr>
              <a:t>性能优化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：   按需加载、按需引入、浏览器缓存、</a:t>
            </a:r>
            <a:r>
              <a:rPr lang="en-US" altLang="zh-CN" sz="1600" dirty="0" err="1" smtClean="0">
                <a:solidFill>
                  <a:schemeClr val="bg1"/>
                </a:solidFill>
                <a:sym typeface="+mn-ea"/>
              </a:rPr>
              <a:t>prefetch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、</a:t>
            </a:r>
            <a:r>
              <a:rPr lang="en-US" altLang="zh-CN" sz="1600" dirty="0" err="1" smtClean="0">
                <a:solidFill>
                  <a:schemeClr val="bg1"/>
                </a:solidFill>
                <a:sym typeface="+mn-ea"/>
              </a:rPr>
              <a:t>gzip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压缩、</a:t>
            </a:r>
            <a:r>
              <a:rPr lang="en-US" altLang="zh-CN" sz="1600" dirty="0" smtClean="0">
                <a:solidFill>
                  <a:schemeClr val="bg1"/>
                </a:solidFill>
                <a:sym typeface="+mn-ea"/>
              </a:rPr>
              <a:t>S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plitChunks、</a:t>
            </a:r>
            <a:r>
              <a:rPr lang="en-US" altLang="zh-CN" sz="1600" dirty="0" smtClean="0">
                <a:solidFill>
                  <a:schemeClr val="bg1"/>
                </a:solidFill>
                <a:sym typeface="+mn-ea"/>
              </a:rPr>
              <a:t>CDN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170000"/>
              </a:lnSpc>
            </a:pPr>
            <a:r>
              <a:rPr lang="zh-CN" altLang="en-US" sz="1600" dirty="0" smtClean="0">
                <a:solidFill>
                  <a:schemeClr val="accent2"/>
                </a:solidFill>
                <a:sym typeface="+mn-ea"/>
              </a:rPr>
              <a:t>首屏优化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：   骨架屏</a:t>
            </a:r>
            <a:endParaRPr lang="en-US" altLang="zh-CN" sz="1600" dirty="0" err="1" smtClean="0">
              <a:solidFill>
                <a:schemeClr val="bg1"/>
              </a:solidFill>
              <a:sym typeface="+mn-ea"/>
            </a:endParaRPr>
          </a:p>
          <a:p>
            <a:pPr>
              <a:lnSpc>
                <a:spcPct val="170000"/>
              </a:lnSpc>
            </a:pPr>
            <a:r>
              <a:rPr lang="zh-CN" altLang="en-US" sz="1600" dirty="0" smtClean="0">
                <a:solidFill>
                  <a:schemeClr val="accent2"/>
                </a:solidFill>
                <a:sym typeface="+mn-ea"/>
              </a:rPr>
              <a:t>部署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：          </a:t>
            </a:r>
            <a:r>
              <a:rPr lang="en-US" altLang="zh-CN" sz="1600" dirty="0" err="1" smtClean="0">
                <a:solidFill>
                  <a:schemeClr val="bg1"/>
                </a:solidFill>
                <a:sym typeface="+mn-ea"/>
              </a:rPr>
              <a:t>jenkins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持续集成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58520" y="538480"/>
            <a:ext cx="109353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前端框架 </a:t>
            </a:r>
            <a:r>
              <a:rPr lang="en-US" altLang="zh-CN" sz="2400" dirty="0" smtClean="0">
                <a:solidFill>
                  <a:schemeClr val="bg1"/>
                </a:solidFill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应用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开发技术栈组合方案</a:t>
            </a:r>
            <a:endParaRPr lang="zh-CN" altLang="en-US" sz="2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58520" y="1543685"/>
            <a:ext cx="9504045" cy="20567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97940" y="173418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状态管理</a:t>
            </a:r>
            <a:endParaRPr lang="zh-CN" altLang="en-US" sz="1600"/>
          </a:p>
        </p:txBody>
      </p:sp>
      <p:sp>
        <p:nvSpPr>
          <p:cNvPr id="10" name="矩形 9"/>
          <p:cNvSpPr/>
          <p:nvPr/>
        </p:nvSpPr>
        <p:spPr>
          <a:xfrm>
            <a:off x="1297940" y="235394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基础组件库</a:t>
            </a:r>
            <a:endParaRPr lang="zh-CN" altLang="en-US" sz="1600"/>
          </a:p>
        </p:txBody>
      </p:sp>
      <p:sp>
        <p:nvSpPr>
          <p:cNvPr id="11" name="矩形 10"/>
          <p:cNvSpPr/>
          <p:nvPr/>
        </p:nvSpPr>
        <p:spPr>
          <a:xfrm>
            <a:off x="3074035" y="173418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动态路由</a:t>
            </a:r>
            <a:endParaRPr lang="zh-CN" altLang="en-US" sz="1600"/>
          </a:p>
        </p:txBody>
      </p:sp>
      <p:sp>
        <p:nvSpPr>
          <p:cNvPr id="12" name="矩形 11"/>
          <p:cNvSpPr/>
          <p:nvPr/>
        </p:nvSpPr>
        <p:spPr>
          <a:xfrm>
            <a:off x="4859020" y="173418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主题</a:t>
            </a:r>
            <a:endParaRPr lang="zh-CN" altLang="en-US" sz="1600"/>
          </a:p>
        </p:txBody>
      </p:sp>
      <p:sp>
        <p:nvSpPr>
          <p:cNvPr id="13" name="矩形 12"/>
          <p:cNvSpPr/>
          <p:nvPr/>
        </p:nvSpPr>
        <p:spPr>
          <a:xfrm>
            <a:off x="6644005" y="173418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国际化</a:t>
            </a:r>
            <a:endParaRPr lang="zh-CN" altLang="en-US" sz="1600"/>
          </a:p>
        </p:txBody>
      </p:sp>
      <p:sp>
        <p:nvSpPr>
          <p:cNvPr id="14" name="矩形 13"/>
          <p:cNvSpPr/>
          <p:nvPr/>
        </p:nvSpPr>
        <p:spPr>
          <a:xfrm>
            <a:off x="8400415" y="173418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权限系统</a:t>
            </a:r>
            <a:endParaRPr lang="zh-CN" altLang="en-US" sz="1600"/>
          </a:p>
        </p:txBody>
      </p:sp>
      <p:sp>
        <p:nvSpPr>
          <p:cNvPr id="15" name="矩形 14"/>
          <p:cNvSpPr/>
          <p:nvPr/>
        </p:nvSpPr>
        <p:spPr>
          <a:xfrm>
            <a:off x="3074035" y="2344420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数据通信</a:t>
            </a:r>
            <a:endParaRPr lang="en-US" altLang="zh-CN" sz="1600" dirty="0"/>
          </a:p>
        </p:txBody>
      </p:sp>
      <p:sp>
        <p:nvSpPr>
          <p:cNvPr id="16" name="矩形 15"/>
          <p:cNvSpPr/>
          <p:nvPr/>
        </p:nvSpPr>
        <p:spPr>
          <a:xfrm>
            <a:off x="4859020" y="235394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solidFill>
              <a:srgbClr val="AADB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项目组织</a:t>
            </a:r>
            <a:endParaRPr lang="zh-CN" altLang="en-US" sz="1600" dirty="0"/>
          </a:p>
        </p:txBody>
      </p:sp>
      <p:sp>
        <p:nvSpPr>
          <p:cNvPr id="17" name="矩形 16"/>
          <p:cNvSpPr/>
          <p:nvPr/>
        </p:nvSpPr>
        <p:spPr>
          <a:xfrm>
            <a:off x="3074035" y="297370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防御性编程</a:t>
            </a:r>
            <a:endParaRPr lang="zh-CN" altLang="en-US" sz="1600" dirty="0"/>
          </a:p>
        </p:txBody>
      </p:sp>
      <p:sp>
        <p:nvSpPr>
          <p:cNvPr id="18" name="矩形 17"/>
          <p:cNvSpPr/>
          <p:nvPr/>
        </p:nvSpPr>
        <p:spPr>
          <a:xfrm>
            <a:off x="6644005" y="2344419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微前端</a:t>
            </a:r>
            <a:endParaRPr lang="zh-CN" altLang="en-US" sz="1600" dirty="0"/>
          </a:p>
        </p:txBody>
      </p:sp>
      <p:sp>
        <p:nvSpPr>
          <p:cNvPr id="19" name="矩形 18"/>
          <p:cNvSpPr/>
          <p:nvPr/>
        </p:nvSpPr>
        <p:spPr>
          <a:xfrm>
            <a:off x="1297940" y="297370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AADB1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浏览器缓存</a:t>
            </a:r>
            <a:endParaRPr lang="zh-CN" altLang="en-US" sz="1600" dirty="0"/>
          </a:p>
        </p:txBody>
      </p:sp>
      <p:sp>
        <p:nvSpPr>
          <p:cNvPr id="20" name="矩形 19"/>
          <p:cNvSpPr/>
          <p:nvPr/>
        </p:nvSpPr>
        <p:spPr>
          <a:xfrm>
            <a:off x="8400415" y="2353945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solidFill>
              <a:srgbClr val="FD8C87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监控系统</a:t>
            </a:r>
            <a:endParaRPr lang="zh-CN" altLang="en-US" sz="1600" dirty="0"/>
          </a:p>
        </p:txBody>
      </p:sp>
      <p:sp>
        <p:nvSpPr>
          <p:cNvPr id="21" name="矩形 20"/>
          <p:cNvSpPr/>
          <p:nvPr/>
        </p:nvSpPr>
        <p:spPr>
          <a:xfrm>
            <a:off x="6644005" y="2973704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bg1"/>
                </a:solidFill>
                <a:sym typeface="+mn-ea"/>
              </a:rPr>
              <a:t>…</a:t>
            </a: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4859020" y="2973704"/>
            <a:ext cx="1518920" cy="419735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solidFill>
              <a:srgbClr val="FD8C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约定式路由</a:t>
            </a:r>
            <a:endParaRPr lang="zh-CN" alt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742950" y="358140"/>
            <a:ext cx="1058608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前端框架 </a:t>
            </a:r>
            <a:r>
              <a:rPr lang="en-US" altLang="zh-CN" sz="2400" dirty="0" smtClean="0">
                <a:solidFill>
                  <a:schemeClr val="bg1"/>
                </a:solidFill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组件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体系</a:t>
            </a:r>
            <a:endParaRPr lang="zh-CN" altLang="en-US" sz="2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42950" y="1482090"/>
            <a:ext cx="4354829" cy="6591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42950" y="3351530"/>
            <a:ext cx="4354829" cy="6591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区块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42950" y="4284345"/>
            <a:ext cx="4354829" cy="65913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业务组件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42950" y="5273040"/>
            <a:ext cx="4354829" cy="65913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基础组件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42950" y="2418080"/>
            <a:ext cx="4354829" cy="6591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布局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44502" y="5310217"/>
            <a:ext cx="5005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>
                <a:solidFill>
                  <a:schemeClr val="accent2"/>
                </a:solidFill>
                <a:sym typeface="+mn-ea"/>
              </a:rPr>
              <a:t>基础组件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：开发一套符合公司设计风格的组件库。</a:t>
            </a:r>
            <a:endParaRPr lang="zh-CN" altLang="en-US" sz="16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44502" y="4321522"/>
            <a:ext cx="5988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 smtClean="0">
                <a:solidFill>
                  <a:schemeClr val="accent2"/>
                </a:solidFill>
                <a:sym typeface="+mn-ea"/>
              </a:rPr>
              <a:t>业务组件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bg1"/>
                </a:solidFill>
                <a:sym typeface="+mn-ea"/>
              </a:rPr>
              <a:t>在基础组件之上封装的、耦合自己业务的组件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16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44502" y="3385361"/>
            <a:ext cx="5988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>
                <a:solidFill>
                  <a:schemeClr val="accent2"/>
                </a:solidFill>
                <a:sym typeface="+mn-ea"/>
              </a:rPr>
              <a:t>区块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：代码片段、代码示例、代码模板...</a:t>
            </a:r>
            <a:endParaRPr lang="zh-CN" altLang="en-US" sz="16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544502" y="2455117"/>
            <a:ext cx="598836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solidFill>
                  <a:schemeClr val="accent2"/>
                </a:solidFill>
                <a:sym typeface="+mn-ea"/>
              </a:rPr>
              <a:t>布局</a:t>
            </a:r>
            <a:r>
              <a:rPr lang="zh-CN" altLang="en-US" sz="1600" dirty="0">
                <a:solidFill>
                  <a:schemeClr val="bg1"/>
                </a:solidFill>
                <a:sym typeface="+mn-ea"/>
              </a:rPr>
              <a:t>：符合交互设计的通用内容容器。</a:t>
            </a:r>
            <a:endParaRPr lang="zh-CN" altLang="en-US" sz="16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44502" y="1524650"/>
            <a:ext cx="5988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solidFill>
                  <a:schemeClr val="accent2"/>
                </a:solidFill>
                <a:sym typeface="+mn-ea"/>
              </a:rPr>
              <a:t>项目</a:t>
            </a:r>
            <a:r>
              <a:rPr lang="zh-CN" altLang="en-US" sz="1600" dirty="0">
                <a:solidFill>
                  <a:schemeClr val="bg1"/>
                </a:solidFill>
                <a:sym typeface="+mn-ea"/>
              </a:rPr>
              <a:t>：项目的整体结构。</a:t>
            </a:r>
            <a:endParaRPr lang="zh-CN" altLang="en-US" sz="16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4380" y="472440"/>
            <a:ext cx="10586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前端框架 </a:t>
            </a:r>
            <a:r>
              <a:rPr lang="en-US" altLang="zh-CN" sz="2400" dirty="0" smtClean="0">
                <a:solidFill>
                  <a:schemeClr val="bg1"/>
                </a:solidFill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bg1"/>
                </a:solidFill>
              </a:rPr>
              <a:t>打通</a:t>
            </a:r>
            <a:r>
              <a:rPr lang="zh-CN" altLang="en-US" sz="2400" dirty="0">
                <a:solidFill>
                  <a:schemeClr val="bg1"/>
                </a:solidFill>
              </a:rPr>
              <a:t>上下游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4380" y="1531620"/>
            <a:ext cx="4023360" cy="708660"/>
          </a:xfrm>
          <a:prstGeom prst="rect">
            <a:avLst/>
          </a:prstGeom>
          <a:noFill/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设计团队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54380" y="4232910"/>
            <a:ext cx="4023360" cy="708660"/>
          </a:xfrm>
          <a:prstGeom prst="rect">
            <a:avLst/>
          </a:prstGeom>
          <a:noFill/>
          <a:ln cap="rnd">
            <a:solidFill>
              <a:schemeClr val="accent1">
                <a:shade val="50000"/>
                <a:alpha val="88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后端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54380" y="2882265"/>
            <a:ext cx="4023360" cy="70866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前端</a:t>
            </a:r>
            <a:endParaRPr kumimoji="1" lang="zh-CN" altLang="en-US" dirty="0"/>
          </a:p>
        </p:txBody>
      </p:sp>
      <p:cxnSp>
        <p:nvCxnSpPr>
          <p:cNvPr id="7" name="直线箭头连接符 6"/>
          <p:cNvCxnSpPr/>
          <p:nvPr/>
        </p:nvCxnSpPr>
        <p:spPr>
          <a:xfrm flipV="1">
            <a:off x="2859405" y="2240280"/>
            <a:ext cx="0" cy="641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/>
          <p:cNvCxnSpPr/>
          <p:nvPr/>
        </p:nvCxnSpPr>
        <p:spPr>
          <a:xfrm>
            <a:off x="2653030" y="3590925"/>
            <a:ext cx="0" cy="641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190336" y="1683514"/>
            <a:ext cx="5262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lt1"/>
                </a:solidFill>
              </a:rPr>
              <a:t>良好的设计规范</a:t>
            </a:r>
            <a:r>
              <a:rPr kumimoji="1" lang="zh-CN" altLang="en-US" dirty="0" smtClean="0">
                <a:solidFill>
                  <a:schemeClr val="lt1"/>
                </a:solidFill>
              </a:rPr>
              <a:t>、和</a:t>
            </a:r>
            <a:r>
              <a:rPr kumimoji="1" lang="zh-CN" altLang="en-US" dirty="0">
                <a:solidFill>
                  <a:schemeClr val="lt1"/>
                </a:solidFill>
              </a:rPr>
              <a:t>前端组件体系绑定并良性迭代</a:t>
            </a:r>
            <a:endParaRPr kumimoji="1" lang="zh-CN" altLang="en-US" dirty="0">
              <a:solidFill>
                <a:schemeClr val="lt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72968" y="4125575"/>
            <a:ext cx="42214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chemeClr val="lt1"/>
                </a:solidFill>
              </a:rPr>
              <a:t>建立更标准的接口范式</a:t>
            </a:r>
            <a:r>
              <a:rPr kumimoji="1" lang="zh-CN" altLang="en-US" dirty="0" smtClean="0">
                <a:solidFill>
                  <a:schemeClr val="lt1"/>
                </a:solidFill>
              </a:rPr>
              <a:t>、</a:t>
            </a:r>
            <a:endParaRPr kumimoji="1" lang="en-US" altLang="zh-CN" dirty="0" smtClean="0">
              <a:solidFill>
                <a:schemeClr val="lt1"/>
              </a:solidFill>
            </a:endParaRPr>
          </a:p>
          <a:p>
            <a:r>
              <a:rPr kumimoji="1" lang="zh-CN" altLang="en-US" dirty="0" smtClean="0">
                <a:solidFill>
                  <a:schemeClr val="lt1"/>
                </a:solidFill>
              </a:rPr>
              <a:t>封装</a:t>
            </a:r>
            <a:r>
              <a:rPr kumimoji="1" lang="zh-CN" altLang="en-US" dirty="0">
                <a:solidFill>
                  <a:schemeClr val="lt1"/>
                </a:solidFill>
              </a:rPr>
              <a:t>通用的服务</a:t>
            </a:r>
            <a:r>
              <a:rPr kumimoji="1" lang="en-US" altLang="zh-CN" dirty="0">
                <a:solidFill>
                  <a:schemeClr val="lt1"/>
                </a:solidFill>
              </a:rPr>
              <a:t>(</a:t>
            </a:r>
            <a:r>
              <a:rPr kumimoji="1" lang="zh-CN" altLang="en-US" dirty="0">
                <a:solidFill>
                  <a:schemeClr val="lt1"/>
                </a:solidFill>
              </a:rPr>
              <a:t>有利于业务组件复用</a:t>
            </a:r>
            <a:r>
              <a:rPr kumimoji="1" lang="en-US" altLang="zh-CN" dirty="0" smtClean="0">
                <a:solidFill>
                  <a:schemeClr val="lt1"/>
                </a:solidFill>
              </a:rPr>
              <a:t>)</a:t>
            </a:r>
            <a:r>
              <a:rPr kumimoji="1" lang="zh-CN" altLang="en-US" dirty="0" smtClean="0">
                <a:solidFill>
                  <a:schemeClr val="lt1"/>
                </a:solidFill>
              </a:rPr>
              <a:t>、</a:t>
            </a:r>
            <a:endParaRPr kumimoji="1" lang="en-US" altLang="zh-CN" dirty="0" smtClean="0">
              <a:solidFill>
                <a:schemeClr val="lt1"/>
              </a:solidFill>
            </a:endParaRPr>
          </a:p>
          <a:p>
            <a:r>
              <a:rPr kumimoji="1" lang="zh-CN" altLang="en-US" dirty="0" smtClean="0">
                <a:solidFill>
                  <a:schemeClr val="lt1"/>
                </a:solidFill>
              </a:rPr>
              <a:t>更</a:t>
            </a:r>
            <a:r>
              <a:rPr kumimoji="1" lang="zh-CN" altLang="en-US" dirty="0">
                <a:solidFill>
                  <a:schemeClr val="lt1"/>
                </a:solidFill>
              </a:rPr>
              <a:t>深的业务</a:t>
            </a:r>
            <a:r>
              <a:rPr kumimoji="1" lang="zh-CN" altLang="en-US" dirty="0" smtClean="0">
                <a:solidFill>
                  <a:schemeClr val="lt1"/>
                </a:solidFill>
              </a:rPr>
              <a:t>中台</a:t>
            </a:r>
            <a:r>
              <a:rPr kumimoji="1" lang="en-US" altLang="zh-CN" dirty="0" smtClean="0">
                <a:solidFill>
                  <a:schemeClr val="lt1"/>
                </a:solidFill>
              </a:rPr>
              <a:t>…</a:t>
            </a:r>
            <a:endParaRPr kumimoji="1" lang="zh-CN" altLang="en-US" dirty="0">
              <a:solidFill>
                <a:schemeClr val="lt1"/>
              </a:solidFill>
            </a:endParaRPr>
          </a:p>
        </p:txBody>
      </p:sp>
      <p:cxnSp>
        <p:nvCxnSpPr>
          <p:cNvPr id="8" name="直线箭头连接符 8"/>
          <p:cNvCxnSpPr/>
          <p:nvPr/>
        </p:nvCxnSpPr>
        <p:spPr>
          <a:xfrm>
            <a:off x="2653030" y="2240280"/>
            <a:ext cx="0" cy="641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6"/>
          <p:cNvCxnSpPr/>
          <p:nvPr/>
        </p:nvCxnSpPr>
        <p:spPr>
          <a:xfrm flipV="1">
            <a:off x="2859405" y="3590925"/>
            <a:ext cx="0" cy="641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0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2633778" y="2919275"/>
            <a:ext cx="1620000" cy="1440000"/>
          </a:xfrm>
          <a:prstGeom prst="rect">
            <a:avLst/>
          </a:prstGeom>
          <a:noFill/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组件库</a:t>
            </a:r>
            <a:endParaRPr lang="zh-CN" altLang="en-US"/>
          </a:p>
          <a:p>
            <a:pPr algn="ctr"/>
            <a:r>
              <a:rPr lang="en-US" altLang="zh-CN"/>
              <a:t>ZvUI</a:t>
            </a:r>
            <a:endParaRPr lang="en-US" altLang="zh-CN"/>
          </a:p>
          <a:p>
            <a:pPr algn="ctr"/>
            <a:r>
              <a:rPr lang="en-US" altLang="zh-CN"/>
              <a:t>ZvUI__pc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2628900" y="4692650"/>
            <a:ext cx="6974205" cy="659130"/>
          </a:xfrm>
          <a:prstGeom prst="rect">
            <a:avLst/>
          </a:prstGeom>
          <a:noFill/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zvalley-cli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03275" y="532130"/>
            <a:ext cx="1058608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chemeClr val="bg1"/>
                </a:solidFill>
                <a:sym typeface="+mn-ea"/>
              </a:rPr>
              <a:t>成果</a:t>
            </a:r>
            <a:endParaRPr lang="zh-CN" altLang="en-US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28900" y="1680845"/>
            <a:ext cx="6974205" cy="659130"/>
          </a:xfrm>
          <a:prstGeom prst="rect">
            <a:avLst/>
          </a:prstGeom>
          <a:noFill/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项目</a:t>
            </a:r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3443778" y="4372497"/>
            <a:ext cx="635" cy="33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1">
            <a:off x="5221799" y="4349228"/>
            <a:ext cx="635" cy="33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6998226" y="4349228"/>
            <a:ext cx="635" cy="33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8883041" y="4359275"/>
            <a:ext cx="635" cy="33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上箭头 7"/>
          <p:cNvSpPr/>
          <p:nvPr/>
        </p:nvSpPr>
        <p:spPr>
          <a:xfrm>
            <a:off x="5995987" y="2367853"/>
            <a:ext cx="219710" cy="529590"/>
          </a:xfrm>
          <a:prstGeom prst="up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10205" y="2919275"/>
            <a:ext cx="1620000" cy="1440000"/>
          </a:xfrm>
          <a:prstGeom prst="rect">
            <a:avLst/>
          </a:prstGeom>
          <a:noFill/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ym typeface="+mn-ea"/>
              </a:rPr>
              <a:t>区块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193728" y="2922450"/>
            <a:ext cx="1620000" cy="1440000"/>
          </a:xfrm>
          <a:prstGeom prst="rect">
            <a:avLst/>
          </a:prstGeom>
          <a:noFill/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ym typeface="+mn-ea"/>
              </a:rPr>
              <a:t>国际化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7977183" y="2921635"/>
            <a:ext cx="1620000" cy="1440000"/>
          </a:xfrm>
          <a:prstGeom prst="rect">
            <a:avLst/>
          </a:prstGeom>
          <a:noFill/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ym typeface="+mn-ea"/>
              </a:rPr>
              <a:t>项目模板</a:t>
            </a:r>
            <a:endParaRPr lang="zh-CN" altLang="en-US"/>
          </a:p>
          <a:p>
            <a:pPr algn="ctr"/>
            <a:r>
              <a:rPr lang="en-US" altLang="zh-CN" dirty="0">
                <a:sym typeface="+mn-ea"/>
              </a:rPr>
              <a:t>web-template</a:t>
            </a:r>
            <a:endParaRPr lang="en-US" altLang="zh-CN" dirty="0"/>
          </a:p>
        </p:txBody>
      </p:sp>
      <p:sp>
        <p:nvSpPr>
          <p:cNvPr id="18" name="矩形 17"/>
          <p:cNvSpPr/>
          <p:nvPr/>
        </p:nvSpPr>
        <p:spPr>
          <a:xfrm>
            <a:off x="9952991" y="1680845"/>
            <a:ext cx="907076" cy="3670300"/>
          </a:xfrm>
          <a:prstGeom prst="rect">
            <a:avLst/>
          </a:prstGeom>
          <a:noFill/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文档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367591" y="1680845"/>
            <a:ext cx="907076" cy="3670300"/>
          </a:xfrm>
          <a:prstGeom prst="rect">
            <a:avLst/>
          </a:prstGeom>
          <a:noFill/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视觉和交互规范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8835" y="561975"/>
            <a:ext cx="10420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smtClean="0">
                <a:solidFill>
                  <a:schemeClr val="bg1"/>
                </a:solidFill>
                <a:sym typeface="+mn-ea"/>
              </a:rPr>
              <a:t>前端架构规划</a:t>
            </a:r>
            <a:endParaRPr lang="zh-CN" altLang="en-US" sz="2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9910" y="1621155"/>
            <a:ext cx="1175385" cy="466725"/>
          </a:xfrm>
          <a:prstGeom prst="rect">
            <a:avLst/>
          </a:prstGeom>
          <a:noFill/>
          <a:ln>
            <a:solidFill>
              <a:srgbClr val="AADB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node</a:t>
            </a:r>
            <a:r>
              <a:rPr lang="zh-CN" altLang="en-US" sz="1400"/>
              <a:t>服务</a:t>
            </a:r>
            <a:endParaRPr lang="zh-CN" altLang="en-US" sz="1400"/>
          </a:p>
        </p:txBody>
      </p:sp>
      <p:sp>
        <p:nvSpPr>
          <p:cNvPr id="10" name="矩形 9"/>
          <p:cNvSpPr/>
          <p:nvPr/>
        </p:nvSpPr>
        <p:spPr>
          <a:xfrm>
            <a:off x="1980565" y="1627505"/>
            <a:ext cx="1175385" cy="466725"/>
          </a:xfrm>
          <a:prstGeom prst="rect">
            <a:avLst/>
          </a:prstGeom>
          <a:noFill/>
          <a:ln>
            <a:solidFill>
              <a:srgbClr val="AADB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ym typeface="+mn-ea"/>
              </a:rPr>
              <a:t>前端基础框架</a:t>
            </a:r>
            <a:endParaRPr lang="zh-CN" altLang="en-US" sz="1400"/>
          </a:p>
        </p:txBody>
      </p:sp>
      <p:sp>
        <p:nvSpPr>
          <p:cNvPr id="11" name="矩形 10"/>
          <p:cNvSpPr/>
          <p:nvPr/>
        </p:nvSpPr>
        <p:spPr>
          <a:xfrm>
            <a:off x="3411855" y="1627505"/>
            <a:ext cx="1175385" cy="466725"/>
          </a:xfrm>
          <a:prstGeom prst="rect">
            <a:avLst/>
          </a:prstGeom>
          <a:noFill/>
          <a:ln>
            <a:solidFill>
              <a:srgbClr val="FD8C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ym typeface="+mn-ea"/>
              </a:rPr>
              <a:t>端行为数据监控</a:t>
            </a:r>
            <a:endParaRPr lang="zh-CN" altLang="en-US" sz="1400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713980" y="1627505"/>
            <a:ext cx="1175385" cy="46672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ym typeface="+mn-ea"/>
              </a:rPr>
              <a:t>平台组件化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4852670" y="1627505"/>
            <a:ext cx="1175385" cy="466725"/>
          </a:xfrm>
          <a:prstGeom prst="rect">
            <a:avLst/>
          </a:prstGeom>
          <a:noFill/>
          <a:ln>
            <a:solidFill>
              <a:srgbClr val="FD8C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ym typeface="+mn-ea"/>
              </a:rPr>
              <a:t>端性能监控</a:t>
            </a:r>
            <a:endParaRPr lang="zh-CN" altLang="en-US" sz="1400"/>
          </a:p>
        </p:txBody>
      </p:sp>
      <p:sp>
        <p:nvSpPr>
          <p:cNvPr id="15" name="矩形 14"/>
          <p:cNvSpPr/>
          <p:nvPr/>
        </p:nvSpPr>
        <p:spPr>
          <a:xfrm>
            <a:off x="10618470" y="1627505"/>
            <a:ext cx="1175385" cy="466725"/>
          </a:xfrm>
          <a:prstGeom prst="rect">
            <a:avLst/>
          </a:prstGeom>
          <a:noFill/>
          <a:ln>
            <a:solidFill>
              <a:srgbClr val="FD8C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ym typeface="+mn-ea"/>
              </a:rPr>
              <a:t>端报表可视化</a:t>
            </a:r>
            <a:endParaRPr lang="zh-CN" altLang="en-US" sz="1400"/>
          </a:p>
        </p:txBody>
      </p:sp>
      <p:sp>
        <p:nvSpPr>
          <p:cNvPr id="16" name="矩形 15"/>
          <p:cNvSpPr/>
          <p:nvPr/>
        </p:nvSpPr>
        <p:spPr>
          <a:xfrm>
            <a:off x="6280785" y="1627505"/>
            <a:ext cx="1175385" cy="46672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ym typeface="+mn-ea"/>
              </a:rPr>
              <a:t>构建部署</a:t>
            </a:r>
            <a:endParaRPr lang="zh-CN" altLang="en-US" sz="1400"/>
          </a:p>
        </p:txBody>
      </p:sp>
      <p:cxnSp>
        <p:nvCxnSpPr>
          <p:cNvPr id="19" name="直接连接符 18"/>
          <p:cNvCxnSpPr>
            <a:stCxn id="3" idx="3"/>
            <a:endCxn id="10" idx="1"/>
          </p:cNvCxnSpPr>
          <p:nvPr/>
        </p:nvCxnSpPr>
        <p:spPr>
          <a:xfrm>
            <a:off x="1725295" y="1854835"/>
            <a:ext cx="255270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156585" y="1861185"/>
            <a:ext cx="255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4587240" y="1861185"/>
            <a:ext cx="255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893810" y="1861185"/>
            <a:ext cx="255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456170" y="1861185"/>
            <a:ext cx="255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028055" y="1861185"/>
            <a:ext cx="255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89890" y="2433955"/>
            <a:ext cx="3416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构建工具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67740" y="2433955"/>
            <a:ext cx="33972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埋点监控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538605" y="2433955"/>
            <a:ext cx="3740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数据业务平台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3489325" y="-220345"/>
            <a:ext cx="255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2932430" y="2433955"/>
            <a:ext cx="3454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工程脚手架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807210" y="2427605"/>
            <a:ext cx="4432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混合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项目骨架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573655" y="2433955"/>
            <a:ext cx="31940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小程序 项目框架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277870" y="2433955"/>
            <a:ext cx="26479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小程序收集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834765" y="2433955"/>
            <a:ext cx="32956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移动端数据收集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446270" y="2433955"/>
            <a:ext cx="2781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PC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端数据收集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49805" y="2381885"/>
            <a:ext cx="31305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web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 项目框架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51" name="左大括号 50"/>
          <p:cNvSpPr/>
          <p:nvPr/>
        </p:nvSpPr>
        <p:spPr>
          <a:xfrm rot="5400000">
            <a:off x="984250" y="1704975"/>
            <a:ext cx="294005" cy="1163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2" name="文本框 51"/>
          <p:cNvSpPr txBox="1"/>
          <p:nvPr/>
        </p:nvSpPr>
        <p:spPr>
          <a:xfrm>
            <a:off x="3489325" y="1043305"/>
            <a:ext cx="11633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运营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产品决策辅助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724400" y="2433955"/>
            <a:ext cx="32893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Js/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原生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接口异常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2005" y="2433955"/>
            <a:ext cx="3282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页面渲染耗时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114415" y="2433955"/>
            <a:ext cx="34417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web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项目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715125" y="2433955"/>
            <a:ext cx="3162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混合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原生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项目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289675" y="1043940"/>
            <a:ext cx="11664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产品发布部署流程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604760" y="2433955"/>
            <a:ext cx="3340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原生组件化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162925" y="2433955"/>
            <a:ext cx="2774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web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组件化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683625" y="2433955"/>
            <a:ext cx="3632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组件展示平台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723505" y="1043940"/>
            <a:ext cx="11779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前端研发效率提升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0488930" y="2433955"/>
            <a:ext cx="33401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小程序端行为报表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1064875" y="2433955"/>
            <a:ext cx="2952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200">
                <a:solidFill>
                  <a:schemeClr val="bg1"/>
                </a:solidFill>
                <a:sym typeface="+mn-ea"/>
              </a:rPr>
              <a:t>移动端端行为报表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1592560" y="2433955"/>
            <a:ext cx="37528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1200">
                <a:solidFill>
                  <a:schemeClr val="bg1"/>
                </a:solidFill>
                <a:sym typeface="+mn-ea"/>
              </a:rPr>
              <a:t>PC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端端行为报表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0610215" y="1043940"/>
            <a:ext cx="11836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业务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运营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产品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决策效率辅助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864735" y="1043940"/>
            <a:ext cx="11639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端产品质量跟踪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95805" y="1135380"/>
            <a:ext cx="11607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展示框架支撑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175115" y="1621155"/>
            <a:ext cx="1175385" cy="46672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ym typeface="+mn-ea"/>
              </a:rPr>
              <a:t>交互研究</a:t>
            </a:r>
            <a:endParaRPr lang="zh-CN" altLang="en-US" sz="1400">
              <a:sym typeface="+mn-ea"/>
            </a:endParaRPr>
          </a:p>
        </p:txBody>
      </p:sp>
      <p:cxnSp>
        <p:nvCxnSpPr>
          <p:cNvPr id="80" name="直接连接符 79"/>
          <p:cNvCxnSpPr/>
          <p:nvPr/>
        </p:nvCxnSpPr>
        <p:spPr>
          <a:xfrm>
            <a:off x="10354945" y="1854835"/>
            <a:ext cx="255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9175115" y="1043940"/>
            <a:ext cx="11696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用户心智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&amp;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体验匹配优化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9594215" y="2433955"/>
            <a:ext cx="3371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设备手势特性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0164445" y="2433955"/>
            <a:ext cx="3244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200">
                <a:solidFill>
                  <a:schemeClr val="bg1"/>
                </a:solidFill>
                <a:sym typeface="+mn-ea"/>
              </a:rPr>
              <a:t>动画交互手段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87" name="左大括号 86"/>
          <p:cNvSpPr/>
          <p:nvPr/>
        </p:nvSpPr>
        <p:spPr>
          <a:xfrm rot="5400000">
            <a:off x="8164830" y="1699260"/>
            <a:ext cx="294005" cy="1163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8" name="左大括号 87"/>
          <p:cNvSpPr/>
          <p:nvPr/>
        </p:nvSpPr>
        <p:spPr>
          <a:xfrm rot="5400000">
            <a:off x="9615170" y="1698625"/>
            <a:ext cx="294005" cy="1163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9" name="左大括号 88"/>
          <p:cNvSpPr/>
          <p:nvPr/>
        </p:nvSpPr>
        <p:spPr>
          <a:xfrm rot="5400000">
            <a:off x="11064875" y="1704975"/>
            <a:ext cx="294005" cy="1163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90" name="左大括号 89"/>
          <p:cNvSpPr/>
          <p:nvPr/>
        </p:nvSpPr>
        <p:spPr>
          <a:xfrm rot="5400000">
            <a:off x="3858260" y="1681480"/>
            <a:ext cx="294005" cy="1163320"/>
          </a:xfrm>
          <a:prstGeom prst="leftBrace">
            <a:avLst>
              <a:gd name="adj1" fmla="val 8333"/>
              <a:gd name="adj2" fmla="val 4997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91" name="左大括号 90"/>
          <p:cNvSpPr/>
          <p:nvPr/>
        </p:nvSpPr>
        <p:spPr>
          <a:xfrm rot="5400000">
            <a:off x="5299075" y="1704975"/>
            <a:ext cx="294005" cy="1163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92" name="左大括号 91"/>
          <p:cNvSpPr/>
          <p:nvPr/>
        </p:nvSpPr>
        <p:spPr>
          <a:xfrm rot="5400000">
            <a:off x="6717665" y="1704975"/>
            <a:ext cx="294005" cy="1163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93" name="左大括号 92"/>
          <p:cNvSpPr/>
          <p:nvPr/>
        </p:nvSpPr>
        <p:spPr>
          <a:xfrm rot="5400000">
            <a:off x="2426970" y="1652905"/>
            <a:ext cx="294005" cy="1163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94" name="矩形 93"/>
          <p:cNvSpPr/>
          <p:nvPr/>
        </p:nvSpPr>
        <p:spPr>
          <a:xfrm>
            <a:off x="534670" y="4502150"/>
            <a:ext cx="1175385" cy="466725"/>
          </a:xfrm>
          <a:prstGeom prst="rect">
            <a:avLst/>
          </a:prstGeom>
          <a:noFill/>
          <a:ln>
            <a:solidFill>
              <a:srgbClr val="AADB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ym typeface="+mn-ea"/>
              </a:rPr>
              <a:t>前后端协同</a:t>
            </a:r>
            <a:endParaRPr lang="zh-CN" altLang="en-US" sz="1400">
              <a:sym typeface="+mn-ea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1714500" y="4735830"/>
            <a:ext cx="255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>
          <a:xfrm>
            <a:off x="389890" y="5308600"/>
            <a:ext cx="54229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mock/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测试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文档打通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1409700" y="5308600"/>
            <a:ext cx="5600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异构数据聚合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51180" y="4071620"/>
            <a:ext cx="11779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研发效率提升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995805" y="4495800"/>
            <a:ext cx="1175385" cy="466725"/>
          </a:xfrm>
          <a:prstGeom prst="rect">
            <a:avLst/>
          </a:prstGeom>
          <a:noFill/>
          <a:ln>
            <a:solidFill>
              <a:srgbClr val="FD8C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ym typeface="+mn-ea"/>
              </a:rPr>
              <a:t>安全防控</a:t>
            </a:r>
            <a:endParaRPr lang="zh-CN" altLang="en-US" sz="1400"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995805" y="3978910"/>
            <a:ext cx="11696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技术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产品资产保护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1767205" y="5308600"/>
            <a:ext cx="5232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sym typeface="+mn-ea"/>
              </a:rPr>
              <a:t>npm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包恶意代码检查过滤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2932430" y="5308600"/>
            <a:ext cx="5041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200">
                <a:solidFill>
                  <a:schemeClr val="bg1"/>
                </a:solidFill>
                <a:sym typeface="+mn-ea"/>
              </a:rPr>
              <a:t>多端交互漏洞规避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4" name="左大括号 103"/>
          <p:cNvSpPr/>
          <p:nvPr/>
        </p:nvSpPr>
        <p:spPr>
          <a:xfrm rot="5400000">
            <a:off x="985520" y="4573905"/>
            <a:ext cx="294005" cy="1163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05" name="左大括号 104"/>
          <p:cNvSpPr/>
          <p:nvPr/>
        </p:nvSpPr>
        <p:spPr>
          <a:xfrm rot="5400000">
            <a:off x="2435860" y="4573270"/>
            <a:ext cx="294005" cy="11633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9027795" y="2433955"/>
            <a:ext cx="3371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防御性编程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88530" y="2433955"/>
            <a:ext cx="3162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sym typeface="+mn-ea"/>
              </a:rPr>
              <a:t>灰度发布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28650" y="3014345"/>
            <a:ext cx="10935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4800">
                <a:solidFill>
                  <a:schemeClr val="bg1"/>
                </a:solidFill>
                <a:sym typeface="+mn-ea"/>
              </a:rPr>
              <a:t>Q&amp;A</a:t>
            </a:r>
            <a:endParaRPr lang="en-US" altLang="zh-CN" sz="48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主题​​">
  <a:themeElements>
    <a:clrScheme name="zoomlion">
      <a:dk1>
        <a:srgbClr val="000000"/>
      </a:dk1>
      <a:lt1>
        <a:sysClr val="window" lastClr="FFFFFF"/>
      </a:lt1>
      <a:dk2>
        <a:srgbClr val="383841"/>
      </a:dk2>
      <a:lt2>
        <a:srgbClr val="727171"/>
      </a:lt2>
      <a:accent1>
        <a:srgbClr val="BCB5AF"/>
      </a:accent1>
      <a:accent2>
        <a:srgbClr val="AADB1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WPS 表格</Application>
  <PresentationFormat>宽屏</PresentationFormat>
  <Paragraphs>272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方正书宋_GBK</vt:lpstr>
      <vt:lpstr>Wingdings</vt:lpstr>
      <vt:lpstr>微软雅黑</vt:lpstr>
      <vt:lpstr>Arial Unicode MS</vt:lpstr>
      <vt:lpstr>Calibri</vt:lpstr>
      <vt:lpstr>黑体</vt:lpstr>
      <vt:lpstr>汉仪中黑KW</vt:lpstr>
      <vt:lpstr>宋体</vt:lpstr>
      <vt:lpstr>Arial Rounded MT Bold</vt:lpstr>
      <vt:lpstr>汉仪书宋二KW</vt:lpstr>
      <vt:lpstr>Arial Black</vt:lpstr>
      <vt:lpstr>等线</vt:lpstr>
      <vt:lpstr>汉仪中等线KW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 宇翔</dc:creator>
  <cp:lastModifiedBy>zlzk</cp:lastModifiedBy>
  <cp:revision>331</cp:revision>
  <dcterms:created xsi:type="dcterms:W3CDTF">2019-12-26T08:18:37Z</dcterms:created>
  <dcterms:modified xsi:type="dcterms:W3CDTF">2019-12-26T08:18:37Z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2052-1.6.1.2429</vt:lpwstr>
  </property>
</Properties>
</file>